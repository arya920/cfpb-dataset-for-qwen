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i6eEHrHN+/AqTvh7+sFbbQRrwA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3" name="Google Shape;5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6" name="Google Shape;10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1" name="Google Shape;13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20.png"/><Relationship Id="rId6"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huggingface.co/Qwen/Qwen2.5-7B-Instruct" TargetMode="External"/><Relationship Id="rId4" Type="http://schemas.openxmlformats.org/officeDocument/2006/relationships/hyperlink" Target="https://huggingface.co/aryachakraborty/arya-cfpb-qwen_2.5-7b-lora-V2" TargetMode="External"/><Relationship Id="rId5" Type="http://schemas.openxmlformats.org/officeDocument/2006/relationships/hyperlink" Target="https://www.consumerfinance.gov/data-research/consumer-complaints/" TargetMode="External"/><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11" Type="http://schemas.openxmlformats.org/officeDocument/2006/relationships/hyperlink" Target="https://github.com/Arya920/CFPB-Dataset-for-qwen" TargetMode="External"/><Relationship Id="rId10" Type="http://schemas.openxmlformats.org/officeDocument/2006/relationships/image" Target="../media/image19.png"/><Relationship Id="rId9"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18.png"/><Relationship Id="rId8"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1" name="Shape 11"/>
        <p:cNvGrpSpPr/>
        <p:nvPr/>
      </p:nvGrpSpPr>
      <p:grpSpPr>
        <a:xfrm>
          <a:off x="0" y="0"/>
          <a:ext cx="0" cy="0"/>
          <a:chOff x="0" y="0"/>
          <a:chExt cx="0" cy="0"/>
        </a:xfrm>
      </p:grpSpPr>
      <p:sp>
        <p:nvSpPr>
          <p:cNvPr id="12" name="Google Shape;12;p1"/>
          <p:cNvSpPr/>
          <p:nvPr/>
        </p:nvSpPr>
        <p:spPr>
          <a:xfrm>
            <a:off x="0" y="0"/>
            <a:ext cx="5212080" cy="5143500"/>
          </a:xfrm>
          <a:prstGeom prst="rect">
            <a:avLst/>
          </a:prstGeom>
          <a:solidFill>
            <a:srgbClr val="0E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over.jpg" id="13" name="Google Shape;13;p1"/>
          <p:cNvPicPr preferRelativeResize="0"/>
          <p:nvPr/>
        </p:nvPicPr>
        <p:blipFill rotWithShape="1">
          <a:blip r:embed="rId3">
            <a:alphaModFix/>
          </a:blip>
          <a:srcRect b="0" l="0" r="0" t="0"/>
          <a:stretch/>
        </p:blipFill>
        <p:spPr>
          <a:xfrm>
            <a:off x="5212080" y="0"/>
            <a:ext cx="3931920" cy="5143500"/>
          </a:xfrm>
          <a:prstGeom prst="rect">
            <a:avLst/>
          </a:prstGeom>
          <a:noFill/>
          <a:ln>
            <a:noFill/>
          </a:ln>
        </p:spPr>
      </p:pic>
      <p:pic>
        <p:nvPicPr>
          <p:cNvPr descr="assets/lockup_white.png" id="14" name="Google Shape;14;p1"/>
          <p:cNvPicPr preferRelativeResize="0"/>
          <p:nvPr/>
        </p:nvPicPr>
        <p:blipFill rotWithShape="1">
          <a:blip r:embed="rId4">
            <a:alphaModFix/>
          </a:blip>
          <a:srcRect b="0" l="0" r="0" t="0"/>
          <a:stretch/>
        </p:blipFill>
        <p:spPr>
          <a:xfrm>
            <a:off x="365760" y="320040"/>
            <a:ext cx="2148840" cy="780694"/>
          </a:xfrm>
          <a:prstGeom prst="rect">
            <a:avLst/>
          </a:prstGeom>
          <a:noFill/>
          <a:ln>
            <a:noFill/>
          </a:ln>
        </p:spPr>
      </p:pic>
      <p:pic>
        <p:nvPicPr>
          <p:cNvPr descr="assets/tata_white.png" id="15" name="Google Shape;15;p1"/>
          <p:cNvPicPr preferRelativeResize="0"/>
          <p:nvPr/>
        </p:nvPicPr>
        <p:blipFill rotWithShape="1">
          <a:blip r:embed="rId5">
            <a:alphaModFix/>
          </a:blip>
          <a:srcRect b="0" l="0" r="0" t="0"/>
          <a:stretch/>
        </p:blipFill>
        <p:spPr>
          <a:xfrm>
            <a:off x="4251960" y="320040"/>
            <a:ext cx="594360" cy="560875"/>
          </a:xfrm>
          <a:prstGeom prst="rect">
            <a:avLst/>
          </a:prstGeom>
          <a:noFill/>
          <a:ln>
            <a:noFill/>
          </a:ln>
        </p:spPr>
      </p:pic>
      <p:sp>
        <p:nvSpPr>
          <p:cNvPr id="16" name="Google Shape;16;p1"/>
          <p:cNvSpPr/>
          <p:nvPr/>
        </p:nvSpPr>
        <p:spPr>
          <a:xfrm>
            <a:off x="365760" y="14173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200"/>
              <a:buFont typeface="Calibri"/>
              <a:buNone/>
            </a:pPr>
            <a:r>
              <a:rPr b="1" i="0" lang="en-US" sz="1200" u="none" cap="none" strike="noStrike">
                <a:solidFill>
                  <a:srgbClr val="F2A93B"/>
                </a:solidFill>
                <a:latin typeface="Calibri"/>
                <a:ea typeface="Calibri"/>
                <a:cs typeface="Calibri"/>
                <a:sym typeface="Calibri"/>
              </a:rPr>
              <a:t>TCS  &amp;  AMD  AI  HACKATHON</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365760" y="1783080"/>
            <a:ext cx="4526280" cy="15544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AI-Assisted Complaint Intake &amp; Smart Ticket Categorization</a:t>
            </a:r>
            <a:endParaRPr b="0" i="0" sz="2800" u="none" cap="none" strike="noStrike">
              <a:solidFill>
                <a:schemeClr val="dk1"/>
              </a:solidFill>
              <a:latin typeface="Calibri"/>
              <a:ea typeface="Calibri"/>
              <a:cs typeface="Calibri"/>
              <a:sym typeface="Calibri"/>
            </a:endParaRPr>
          </a:p>
        </p:txBody>
      </p:sp>
      <p:sp>
        <p:nvSpPr>
          <p:cNvPr id="18" name="Google Shape;18;p1"/>
          <p:cNvSpPr/>
          <p:nvPr/>
        </p:nvSpPr>
        <p:spPr>
          <a:xfrm>
            <a:off x="365760" y="3383280"/>
            <a:ext cx="4526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6"/>
              </a:buClr>
              <a:buSzPts val="1200"/>
              <a:buFont typeface="Calibri"/>
              <a:buNone/>
            </a:pPr>
            <a:r>
              <a:rPr b="0" i="1" lang="en-US" sz="1200" u="none" cap="none" strike="noStrike">
                <a:solidFill>
                  <a:srgbClr val="C7D6E6"/>
                </a:solidFill>
                <a:latin typeface="Calibri"/>
                <a:ea typeface="Calibri"/>
                <a:cs typeface="Calibri"/>
                <a:sym typeface="Calibri"/>
              </a:rPr>
              <a:t>Fine-tuning Qwen2.5-7B on the CFPB Consumer Complaint Database to convert unstructured banking complaints into structured, system-ready ticket metadata.</a:t>
            </a:r>
            <a:endParaRPr b="0" i="0" sz="1200" u="none" cap="none" strike="noStrike">
              <a:solidFill>
                <a:schemeClr val="dk1"/>
              </a:solidFill>
              <a:latin typeface="Calibri"/>
              <a:ea typeface="Calibri"/>
              <a:cs typeface="Calibri"/>
              <a:sym typeface="Calibri"/>
            </a:endParaRPr>
          </a:p>
        </p:txBody>
      </p:sp>
      <p:sp>
        <p:nvSpPr>
          <p:cNvPr id="19" name="Google Shape;19;p1"/>
          <p:cNvSpPr/>
          <p:nvPr/>
        </p:nvSpPr>
        <p:spPr>
          <a:xfrm>
            <a:off x="365760" y="4343400"/>
            <a:ext cx="4526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F2A93B"/>
                </a:solidFill>
                <a:latin typeface="Calibri"/>
                <a:ea typeface="Calibri"/>
                <a:cs typeface="Calibri"/>
                <a:sym typeface="Calibri"/>
              </a:rPr>
              <a:t>Team Name - Westpac Gradients</a:t>
            </a:r>
            <a:endParaRPr b="1" sz="1400">
              <a:solidFill>
                <a:srgbClr val="F2A93B"/>
              </a:solidFill>
              <a:latin typeface="Calibri"/>
              <a:ea typeface="Calibri"/>
              <a:cs typeface="Calibri"/>
              <a:sym typeface="Calibri"/>
            </a:endParaRPr>
          </a:p>
          <a:p>
            <a:pPr indent="0" lvl="0" marL="0" marR="0" rtl="0" algn="l">
              <a:spcBef>
                <a:spcPts val="0"/>
              </a:spcBef>
              <a:spcAft>
                <a:spcPts val="0"/>
              </a:spcAft>
              <a:buClr>
                <a:srgbClr val="F2A93B"/>
              </a:buClr>
              <a:buSzPts val="1400"/>
              <a:buFont typeface="Calibri"/>
              <a:buNone/>
            </a:pPr>
            <a:r>
              <a:rPr b="1" lang="en-US" sz="1400">
                <a:solidFill>
                  <a:srgbClr val="F2A93B"/>
                </a:solidFill>
                <a:latin typeface="Calibri"/>
                <a:ea typeface="Calibri"/>
                <a:cs typeface="Calibri"/>
                <a:sym typeface="Calibri"/>
              </a:rPr>
              <a:t>Team No - 2826</a:t>
            </a:r>
            <a:endParaRPr sz="1400">
              <a:solidFill>
                <a:schemeClr val="dk1"/>
              </a:solidFill>
              <a:latin typeface="Calibri"/>
              <a:ea typeface="Calibri"/>
              <a:cs typeface="Calibri"/>
              <a:sym typeface="Calibri"/>
            </a:endParaRPr>
          </a:p>
        </p:txBody>
      </p:sp>
      <p:sp>
        <p:nvSpPr>
          <p:cNvPr id="20" name="Google Shape;20;p1"/>
          <p:cNvSpPr/>
          <p:nvPr/>
        </p:nvSpPr>
        <p:spPr>
          <a:xfrm>
            <a:off x="365760" y="4645152"/>
            <a:ext cx="4526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6"/>
              </a:buClr>
              <a:buSzPts val="1050"/>
              <a:buFont typeface="Calibri"/>
              <a:buNone/>
            </a:pPr>
            <a:r>
              <a:rPr lang="en-US" sz="1050">
                <a:solidFill>
                  <a:srgbClr val="C7D6E6"/>
                </a:solidFill>
                <a:latin typeface="Calibri"/>
                <a:ea typeface="Calibri"/>
                <a:cs typeface="Calibri"/>
                <a:sym typeface="Calibri"/>
              </a:rPr>
              <a:t>Arya Chakraborty - Research, Model Training &amp; Evaluation</a:t>
            </a:r>
            <a:endParaRPr sz="1050">
              <a:solidFill>
                <a:schemeClr val="dk1"/>
              </a:solidFill>
              <a:latin typeface="Calibri"/>
              <a:ea typeface="Calibri"/>
              <a:cs typeface="Calibri"/>
              <a:sym typeface="Calibri"/>
            </a:endParaRPr>
          </a:p>
          <a:p>
            <a:pPr indent="0" lvl="0" marL="0" marR="0" rtl="0" algn="l">
              <a:spcBef>
                <a:spcPts val="200"/>
              </a:spcBef>
              <a:spcAft>
                <a:spcPts val="0"/>
              </a:spcAft>
              <a:buClr>
                <a:srgbClr val="C7D6E6"/>
              </a:buClr>
              <a:buSzPts val="1050"/>
              <a:buFont typeface="Calibri"/>
              <a:buNone/>
            </a:pPr>
            <a:r>
              <a:rPr lang="en-US" sz="1050">
                <a:solidFill>
                  <a:srgbClr val="C7D6E6"/>
                </a:solidFill>
                <a:latin typeface="Calibri"/>
                <a:ea typeface="Calibri"/>
                <a:cs typeface="Calibri"/>
                <a:sym typeface="Calibri"/>
              </a:rPr>
              <a:t>Neha Malik - Business Case, Data Engineering &amp; Presentation</a:t>
            </a:r>
            <a:endParaRPr sz="10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5" name="Shape 25"/>
        <p:cNvGrpSpPr/>
        <p:nvPr/>
      </p:nvGrpSpPr>
      <p:grpSpPr>
        <a:xfrm>
          <a:off x="0" y="0"/>
          <a:ext cx="0" cy="0"/>
          <a:chOff x="0" y="0"/>
          <a:chExt cx="0" cy="0"/>
        </a:xfrm>
      </p:grpSpPr>
      <p:sp>
        <p:nvSpPr>
          <p:cNvPr id="26" name="Google Shape;26;p2"/>
          <p:cNvSpPr/>
          <p:nvPr/>
        </p:nvSpPr>
        <p:spPr>
          <a:xfrm>
            <a:off x="457200" y="3200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200"/>
              <a:buFont typeface="Calibri"/>
              <a:buNone/>
            </a:pPr>
            <a:r>
              <a:rPr b="1" lang="en-US" sz="1200">
                <a:solidFill>
                  <a:srgbClr val="0E7AA8"/>
                </a:solidFill>
                <a:latin typeface="Calibri"/>
                <a:ea typeface="Calibri"/>
                <a:cs typeface="Calibri"/>
                <a:sym typeface="Calibri"/>
              </a:rPr>
              <a:t>PROBLEM  &amp;  CONTEXT</a:t>
            </a:r>
            <a:endParaRPr sz="1200">
              <a:solidFill>
                <a:schemeClr val="dk1"/>
              </a:solidFill>
              <a:latin typeface="Calibri"/>
              <a:ea typeface="Calibri"/>
              <a:cs typeface="Calibri"/>
              <a:sym typeface="Calibri"/>
            </a:endParaRPr>
          </a:p>
        </p:txBody>
      </p:sp>
      <p:sp>
        <p:nvSpPr>
          <p:cNvPr id="27" name="Google Shape;27;p2"/>
          <p:cNvSpPr/>
          <p:nvPr/>
        </p:nvSpPr>
        <p:spPr>
          <a:xfrm>
            <a:off x="457200" y="5943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1B2E"/>
              </a:buClr>
              <a:buSzPts val="2800"/>
              <a:buFont typeface="Arial"/>
              <a:buNone/>
            </a:pPr>
            <a:r>
              <a:rPr b="1" lang="en-US" sz="2800">
                <a:solidFill>
                  <a:srgbClr val="0E1B2E"/>
                </a:solidFill>
                <a:latin typeface="Arial"/>
                <a:ea typeface="Arial"/>
                <a:cs typeface="Arial"/>
                <a:sym typeface="Arial"/>
              </a:rPr>
              <a:t>Why Complaint Triage Breaks at Scale</a:t>
            </a:r>
            <a:endParaRPr sz="2800">
              <a:solidFill>
                <a:schemeClr val="dk1"/>
              </a:solidFill>
              <a:latin typeface="Calibri"/>
              <a:ea typeface="Calibri"/>
              <a:cs typeface="Calibri"/>
              <a:sym typeface="Calibri"/>
            </a:endParaRPr>
          </a:p>
        </p:txBody>
      </p:sp>
      <p:sp>
        <p:nvSpPr>
          <p:cNvPr id="28" name="Google Shape;28;p2"/>
          <p:cNvSpPr/>
          <p:nvPr/>
        </p:nvSpPr>
        <p:spPr>
          <a:xfrm>
            <a:off x="320717" y="1371600"/>
            <a:ext cx="5157216" cy="1719072"/>
          </a:xfrm>
          <a:prstGeom prst="roundRect">
            <a:avLst>
              <a:gd fmla="val 3889"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50259" y="1380744"/>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100"/>
              <a:buFont typeface="Calibri"/>
              <a:buNone/>
            </a:pPr>
            <a:r>
              <a:rPr b="1" lang="en-US" sz="1100">
                <a:solidFill>
                  <a:srgbClr val="0E7AA8"/>
                </a:solidFill>
                <a:latin typeface="Calibri"/>
                <a:ea typeface="Calibri"/>
                <a:cs typeface="Calibri"/>
                <a:sym typeface="Calibri"/>
              </a:rPr>
              <a:t>PROBLEM STATEMENT</a:t>
            </a:r>
            <a:endParaRPr sz="1100">
              <a:solidFill>
                <a:schemeClr val="dk1"/>
              </a:solidFill>
              <a:latin typeface="Calibri"/>
              <a:ea typeface="Calibri"/>
              <a:cs typeface="Calibri"/>
              <a:sym typeface="Calibri"/>
            </a:endParaRPr>
          </a:p>
        </p:txBody>
      </p:sp>
      <p:sp>
        <p:nvSpPr>
          <p:cNvPr id="30" name="Google Shape;30;p2"/>
          <p:cNvSpPr/>
          <p:nvPr/>
        </p:nvSpPr>
        <p:spPr>
          <a:xfrm>
            <a:off x="435861" y="1659974"/>
            <a:ext cx="5020056" cy="941155"/>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lang="en-US" sz="1300">
                <a:solidFill>
                  <a:srgbClr val="1E293B"/>
                </a:solidFill>
                <a:latin typeface="Calibri"/>
                <a:ea typeface="Calibri"/>
                <a:cs typeface="Calibri"/>
                <a:sym typeface="Calibri"/>
              </a:rPr>
              <a:t>Financial institutions process thousands of customer complaints across digital, branch, and contact-center channels every day. Because complaints are submitted as free-form narratives, agents must manually interpret and categorize each case before it can be routed to the appropriate operations team. This process is slow, inconsistent, and prone to misclassification, creating operational bottlenecks at scale.</a:t>
            </a:r>
            <a:endParaRPr sz="1300">
              <a:solidFill>
                <a:schemeClr val="dk1"/>
              </a:solidFill>
              <a:latin typeface="Calibri"/>
              <a:ea typeface="Calibri"/>
              <a:cs typeface="Calibri"/>
              <a:sym typeface="Calibri"/>
            </a:endParaRPr>
          </a:p>
        </p:txBody>
      </p:sp>
      <p:sp>
        <p:nvSpPr>
          <p:cNvPr id="31" name="Google Shape;31;p2"/>
          <p:cNvSpPr/>
          <p:nvPr/>
        </p:nvSpPr>
        <p:spPr>
          <a:xfrm>
            <a:off x="320717" y="3154680"/>
            <a:ext cx="5165683" cy="1691640"/>
          </a:xfrm>
          <a:prstGeom prst="roundRect">
            <a:avLst>
              <a:gd fmla="val 3784"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457200" y="3236637"/>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100"/>
              <a:buFont typeface="Calibri"/>
              <a:buNone/>
            </a:pPr>
            <a:r>
              <a:rPr b="1" lang="en-US" sz="1100">
                <a:solidFill>
                  <a:srgbClr val="0E7AA8"/>
                </a:solidFill>
                <a:latin typeface="Calibri"/>
                <a:ea typeface="Calibri"/>
                <a:cs typeface="Calibri"/>
                <a:sym typeface="Calibri"/>
              </a:rPr>
              <a:t>WHY IT MATTERS</a:t>
            </a:r>
            <a:endParaRPr sz="1100">
              <a:solidFill>
                <a:schemeClr val="dk1"/>
              </a:solidFill>
              <a:latin typeface="Calibri"/>
              <a:ea typeface="Calibri"/>
              <a:cs typeface="Calibri"/>
              <a:sym typeface="Calibri"/>
            </a:endParaRPr>
          </a:p>
        </p:txBody>
      </p:sp>
      <p:sp>
        <p:nvSpPr>
          <p:cNvPr id="33" name="Google Shape;33;p2"/>
          <p:cNvSpPr/>
          <p:nvPr/>
        </p:nvSpPr>
        <p:spPr>
          <a:xfrm>
            <a:off x="421468" y="3507232"/>
            <a:ext cx="5042072"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lang="en-US" sz="1300">
                <a:solidFill>
                  <a:srgbClr val="1E293B"/>
                </a:solidFill>
                <a:latin typeface="Calibri"/>
                <a:ea typeface="Calibri"/>
                <a:cs typeface="Calibri"/>
                <a:sym typeface="Calibri"/>
              </a:rPr>
              <a:t>Every misrouted complaint introduces avoidable operational cost and resolution delay. Manual triage limits scalability, creates inconsistent customer experiences, and increases compliance risk when complaints are not accurately classified. Automating complaint understanding enables faster routing, improved agent productivity, and more consistent regulatory reporting.</a:t>
            </a:r>
            <a:endParaRPr sz="1300">
              <a:solidFill>
                <a:schemeClr val="dk1"/>
              </a:solidFill>
              <a:latin typeface="Calibri"/>
              <a:ea typeface="Calibri"/>
              <a:cs typeface="Calibri"/>
              <a:sym typeface="Calibri"/>
            </a:endParaRPr>
          </a:p>
        </p:txBody>
      </p:sp>
      <p:sp>
        <p:nvSpPr>
          <p:cNvPr id="34" name="Google Shape;34;p2"/>
          <p:cNvSpPr/>
          <p:nvPr/>
        </p:nvSpPr>
        <p:spPr>
          <a:xfrm>
            <a:off x="5669280" y="1371600"/>
            <a:ext cx="3017520" cy="2606040"/>
          </a:xfrm>
          <a:prstGeom prst="roundRect">
            <a:avLst>
              <a:gd fmla="val 2456"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897880" y="1508760"/>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100"/>
              <a:buFont typeface="Calibri"/>
              <a:buNone/>
            </a:pPr>
            <a:r>
              <a:rPr b="1" lang="en-US" sz="1100">
                <a:solidFill>
                  <a:srgbClr val="0E7AA8"/>
                </a:solidFill>
                <a:latin typeface="Calibri"/>
                <a:ea typeface="Calibri"/>
                <a:cs typeface="Calibri"/>
                <a:sym typeface="Calibri"/>
              </a:rPr>
              <a:t>WHO THIS IMPACTS</a:t>
            </a:r>
            <a:endParaRPr sz="1100">
              <a:solidFill>
                <a:schemeClr val="dk1"/>
              </a:solidFill>
              <a:latin typeface="Calibri"/>
              <a:ea typeface="Calibri"/>
              <a:cs typeface="Calibri"/>
              <a:sym typeface="Calibri"/>
            </a:endParaRPr>
          </a:p>
        </p:txBody>
      </p:sp>
      <p:sp>
        <p:nvSpPr>
          <p:cNvPr id="36" name="Google Shape;36;p2"/>
          <p:cNvSpPr/>
          <p:nvPr/>
        </p:nvSpPr>
        <p:spPr>
          <a:xfrm>
            <a:off x="5897880" y="1874520"/>
            <a:ext cx="457200" cy="45720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2"/>
          <p:cNvPicPr preferRelativeResize="0"/>
          <p:nvPr/>
        </p:nvPicPr>
        <p:blipFill rotWithShape="1">
          <a:blip r:embed="rId3">
            <a:alphaModFix/>
          </a:blip>
          <a:srcRect b="0" l="0" r="0" t="0"/>
          <a:stretch/>
        </p:blipFill>
        <p:spPr>
          <a:xfrm>
            <a:off x="6021324" y="1997964"/>
            <a:ext cx="210312" cy="210312"/>
          </a:xfrm>
          <a:prstGeom prst="rect">
            <a:avLst/>
          </a:prstGeom>
          <a:noFill/>
          <a:ln>
            <a:noFill/>
          </a:ln>
        </p:spPr>
      </p:pic>
      <p:sp>
        <p:nvSpPr>
          <p:cNvPr id="38" name="Google Shape;38;p2"/>
          <p:cNvSpPr/>
          <p:nvPr/>
        </p:nvSpPr>
        <p:spPr>
          <a:xfrm>
            <a:off x="6446520" y="1856232"/>
            <a:ext cx="1188720" cy="5029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Frontline</a:t>
            </a:r>
            <a:endParaRPr sz="1050">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Agents</a:t>
            </a:r>
            <a:endParaRPr sz="1050">
              <a:solidFill>
                <a:schemeClr val="dk1"/>
              </a:solidFill>
              <a:latin typeface="Calibri"/>
              <a:ea typeface="Calibri"/>
              <a:cs typeface="Calibri"/>
              <a:sym typeface="Calibri"/>
            </a:endParaRPr>
          </a:p>
        </p:txBody>
      </p:sp>
      <p:sp>
        <p:nvSpPr>
          <p:cNvPr id="39" name="Google Shape;39;p2"/>
          <p:cNvSpPr/>
          <p:nvPr/>
        </p:nvSpPr>
        <p:spPr>
          <a:xfrm>
            <a:off x="7360920" y="1874520"/>
            <a:ext cx="457200" cy="45720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 name="Google Shape;40;p2"/>
          <p:cNvPicPr preferRelativeResize="0"/>
          <p:nvPr/>
        </p:nvPicPr>
        <p:blipFill rotWithShape="1">
          <a:blip r:embed="rId4">
            <a:alphaModFix/>
          </a:blip>
          <a:srcRect b="0" l="0" r="0" t="0"/>
          <a:stretch/>
        </p:blipFill>
        <p:spPr>
          <a:xfrm>
            <a:off x="7484364" y="1997964"/>
            <a:ext cx="210312" cy="210312"/>
          </a:xfrm>
          <a:prstGeom prst="rect">
            <a:avLst/>
          </a:prstGeom>
          <a:noFill/>
          <a:ln>
            <a:noFill/>
          </a:ln>
        </p:spPr>
      </p:pic>
      <p:sp>
        <p:nvSpPr>
          <p:cNvPr id="41" name="Google Shape;41;p2"/>
          <p:cNvSpPr/>
          <p:nvPr/>
        </p:nvSpPr>
        <p:spPr>
          <a:xfrm>
            <a:off x="7909560" y="1856232"/>
            <a:ext cx="1188720" cy="5029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Operations</a:t>
            </a:r>
            <a:endParaRPr sz="1050">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Teams</a:t>
            </a:r>
            <a:endParaRPr sz="1050">
              <a:solidFill>
                <a:schemeClr val="dk1"/>
              </a:solidFill>
              <a:latin typeface="Calibri"/>
              <a:ea typeface="Calibri"/>
              <a:cs typeface="Calibri"/>
              <a:sym typeface="Calibri"/>
            </a:endParaRPr>
          </a:p>
        </p:txBody>
      </p:sp>
      <p:sp>
        <p:nvSpPr>
          <p:cNvPr id="42" name="Google Shape;42;p2"/>
          <p:cNvSpPr/>
          <p:nvPr/>
        </p:nvSpPr>
        <p:spPr>
          <a:xfrm>
            <a:off x="5897880" y="3063240"/>
            <a:ext cx="457200" cy="45720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 name="Google Shape;43;p2"/>
          <p:cNvPicPr preferRelativeResize="0"/>
          <p:nvPr/>
        </p:nvPicPr>
        <p:blipFill rotWithShape="1">
          <a:blip r:embed="rId5">
            <a:alphaModFix/>
          </a:blip>
          <a:srcRect b="0" l="0" r="0" t="0"/>
          <a:stretch/>
        </p:blipFill>
        <p:spPr>
          <a:xfrm>
            <a:off x="6021324" y="3186684"/>
            <a:ext cx="210312" cy="210312"/>
          </a:xfrm>
          <a:prstGeom prst="rect">
            <a:avLst/>
          </a:prstGeom>
          <a:noFill/>
          <a:ln>
            <a:noFill/>
          </a:ln>
        </p:spPr>
      </p:pic>
      <p:sp>
        <p:nvSpPr>
          <p:cNvPr id="44" name="Google Shape;44;p2"/>
          <p:cNvSpPr/>
          <p:nvPr/>
        </p:nvSpPr>
        <p:spPr>
          <a:xfrm>
            <a:off x="6446520" y="3044952"/>
            <a:ext cx="1188720" cy="5029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Compliance</a:t>
            </a:r>
            <a:endParaRPr sz="1050">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Officers</a:t>
            </a:r>
            <a:endParaRPr sz="1050">
              <a:solidFill>
                <a:schemeClr val="dk1"/>
              </a:solidFill>
              <a:latin typeface="Calibri"/>
              <a:ea typeface="Calibri"/>
              <a:cs typeface="Calibri"/>
              <a:sym typeface="Calibri"/>
            </a:endParaRPr>
          </a:p>
        </p:txBody>
      </p:sp>
      <p:sp>
        <p:nvSpPr>
          <p:cNvPr id="45" name="Google Shape;45;p2"/>
          <p:cNvSpPr/>
          <p:nvPr/>
        </p:nvSpPr>
        <p:spPr>
          <a:xfrm>
            <a:off x="7360920" y="3063240"/>
            <a:ext cx="457200" cy="45720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 name="Google Shape;46;p2"/>
          <p:cNvPicPr preferRelativeResize="0"/>
          <p:nvPr/>
        </p:nvPicPr>
        <p:blipFill rotWithShape="1">
          <a:blip r:embed="rId6">
            <a:alphaModFix/>
          </a:blip>
          <a:srcRect b="0" l="0" r="0" t="0"/>
          <a:stretch/>
        </p:blipFill>
        <p:spPr>
          <a:xfrm>
            <a:off x="7484364" y="3186684"/>
            <a:ext cx="210312" cy="210312"/>
          </a:xfrm>
          <a:prstGeom prst="rect">
            <a:avLst/>
          </a:prstGeom>
          <a:noFill/>
          <a:ln>
            <a:noFill/>
          </a:ln>
        </p:spPr>
      </p:pic>
      <p:sp>
        <p:nvSpPr>
          <p:cNvPr id="47" name="Google Shape;47;p2"/>
          <p:cNvSpPr/>
          <p:nvPr/>
        </p:nvSpPr>
        <p:spPr>
          <a:xfrm>
            <a:off x="7909560" y="3044952"/>
            <a:ext cx="1188720" cy="5029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End</a:t>
            </a:r>
            <a:endParaRPr sz="1050">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Customers</a:t>
            </a:r>
            <a:endParaRPr sz="1050">
              <a:solidFill>
                <a:schemeClr val="dk1"/>
              </a:solidFill>
              <a:latin typeface="Calibri"/>
              <a:ea typeface="Calibri"/>
              <a:cs typeface="Calibri"/>
              <a:sym typeface="Calibri"/>
            </a:endParaRPr>
          </a:p>
        </p:txBody>
      </p:sp>
      <p:sp>
        <p:nvSpPr>
          <p:cNvPr id="48" name="Google Shape;48;p2"/>
          <p:cNvSpPr/>
          <p:nvPr/>
        </p:nvSpPr>
        <p:spPr>
          <a:xfrm>
            <a:off x="5669280" y="4114800"/>
            <a:ext cx="3017520" cy="777240"/>
          </a:xfrm>
          <a:prstGeom prst="roundRect">
            <a:avLst>
              <a:gd fmla="val 8235" name="adj"/>
            </a:avLst>
          </a:prstGeom>
          <a:solidFill>
            <a:srgbClr val="0E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5852160" y="4187952"/>
            <a:ext cx="2743200" cy="64008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2A93B"/>
              </a:buClr>
              <a:buSzPts val="900"/>
              <a:buFont typeface="Calibri"/>
              <a:buNone/>
            </a:pPr>
            <a:r>
              <a:rPr b="1" lang="en-US" sz="900">
                <a:solidFill>
                  <a:srgbClr val="F2A93B"/>
                </a:solidFill>
                <a:latin typeface="Calibri"/>
                <a:ea typeface="Calibri"/>
                <a:cs typeface="Calibri"/>
                <a:sym typeface="Calibri"/>
              </a:rPr>
              <a:t>MAPPED CHALLENGE</a:t>
            </a:r>
            <a:br>
              <a:rPr b="1" lang="en-US" sz="900">
                <a:solidFill>
                  <a:srgbClr val="F2A93B"/>
                </a:solidFill>
                <a:latin typeface="Calibri"/>
                <a:ea typeface="Calibri"/>
                <a:cs typeface="Calibri"/>
                <a:sym typeface="Calibri"/>
              </a:rPr>
            </a:br>
            <a:endParaRPr b="1" sz="1050">
              <a:solidFill>
                <a:schemeClr val="lt1"/>
              </a:solidFill>
              <a:latin typeface="Calibri"/>
              <a:ea typeface="Calibri"/>
              <a:cs typeface="Calibri"/>
              <a:sym typeface="Calibri"/>
            </a:endParaRPr>
          </a:p>
          <a:p>
            <a:pPr indent="0" lvl="0" marL="0" marR="0" rtl="0" algn="l">
              <a:lnSpc>
                <a:spcPct val="95000"/>
              </a:lnSpc>
              <a:spcBef>
                <a:spcPts val="0"/>
              </a:spcBef>
              <a:spcAft>
                <a:spcPts val="0"/>
              </a:spcAft>
              <a:buNone/>
            </a:pPr>
            <a:r>
              <a:rPr b="1" lang="en-US" sz="1050">
                <a:solidFill>
                  <a:schemeClr val="lt1"/>
                </a:solidFill>
                <a:latin typeface="Calibri"/>
                <a:ea typeface="Calibri"/>
                <a:cs typeface="Calibri"/>
                <a:sym typeface="Calibri"/>
              </a:rPr>
              <a:t>Track 3 – Fine Tuning (Advanced Users)</a:t>
            </a:r>
            <a:endParaRPr b="1" sz="105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4" name="Shape 54"/>
        <p:cNvGrpSpPr/>
        <p:nvPr/>
      </p:nvGrpSpPr>
      <p:grpSpPr>
        <a:xfrm>
          <a:off x="0" y="0"/>
          <a:ext cx="0" cy="0"/>
          <a:chOff x="0" y="0"/>
          <a:chExt cx="0" cy="0"/>
        </a:xfrm>
      </p:grpSpPr>
      <p:sp>
        <p:nvSpPr>
          <p:cNvPr id="55" name="Google Shape;55;p3"/>
          <p:cNvSpPr/>
          <p:nvPr/>
        </p:nvSpPr>
        <p:spPr>
          <a:xfrm>
            <a:off x="457200" y="3200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200"/>
              <a:buFont typeface="Calibri"/>
              <a:buNone/>
            </a:pPr>
            <a:r>
              <a:rPr b="1" lang="en-US" sz="1200">
                <a:solidFill>
                  <a:srgbClr val="0E7AA8"/>
                </a:solidFill>
                <a:latin typeface="Calibri"/>
                <a:ea typeface="Calibri"/>
                <a:cs typeface="Calibri"/>
                <a:sym typeface="Calibri"/>
              </a:rPr>
              <a:t>SOLUTION  OVERVIEW</a:t>
            </a:r>
            <a:endParaRPr sz="1200">
              <a:solidFill>
                <a:schemeClr val="dk1"/>
              </a:solidFill>
              <a:latin typeface="Calibri"/>
              <a:ea typeface="Calibri"/>
              <a:cs typeface="Calibri"/>
              <a:sym typeface="Calibri"/>
            </a:endParaRPr>
          </a:p>
        </p:txBody>
      </p:sp>
      <p:sp>
        <p:nvSpPr>
          <p:cNvPr id="56" name="Google Shape;56;p3"/>
          <p:cNvSpPr/>
          <p:nvPr/>
        </p:nvSpPr>
        <p:spPr>
          <a:xfrm>
            <a:off x="457200" y="5943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1B2E"/>
              </a:buClr>
              <a:buSzPts val="2800"/>
              <a:buFont typeface="Arial"/>
              <a:buNone/>
            </a:pPr>
            <a:r>
              <a:rPr b="1" lang="en-US" sz="2800">
                <a:solidFill>
                  <a:srgbClr val="0E1B2E"/>
                </a:solidFill>
                <a:latin typeface="Arial"/>
                <a:ea typeface="Arial"/>
                <a:cs typeface="Arial"/>
                <a:sym typeface="Arial"/>
              </a:rPr>
              <a:t>From Raw Complaint to Structured metadata</a:t>
            </a:r>
            <a:endParaRPr sz="2800">
              <a:solidFill>
                <a:schemeClr val="dk1"/>
              </a:solidFill>
              <a:latin typeface="Calibri"/>
              <a:ea typeface="Calibri"/>
              <a:cs typeface="Calibri"/>
              <a:sym typeface="Calibri"/>
            </a:endParaRPr>
          </a:p>
        </p:txBody>
      </p:sp>
      <p:sp>
        <p:nvSpPr>
          <p:cNvPr id="57" name="Google Shape;57;p3"/>
          <p:cNvSpPr/>
          <p:nvPr/>
        </p:nvSpPr>
        <p:spPr>
          <a:xfrm>
            <a:off x="457200" y="1417320"/>
            <a:ext cx="1188720" cy="1325880"/>
          </a:xfrm>
          <a:prstGeom prst="roundRect">
            <a:avLst>
              <a:gd fmla="val 5385"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841248" y="1536192"/>
            <a:ext cx="420624" cy="420624"/>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3"/>
          <p:cNvPicPr preferRelativeResize="0"/>
          <p:nvPr/>
        </p:nvPicPr>
        <p:blipFill rotWithShape="1">
          <a:blip r:embed="rId3">
            <a:alphaModFix/>
          </a:blip>
          <a:srcRect b="0" l="0" r="0" t="0"/>
          <a:stretch/>
        </p:blipFill>
        <p:spPr>
          <a:xfrm>
            <a:off x="954816" y="1649760"/>
            <a:ext cx="193487" cy="193487"/>
          </a:xfrm>
          <a:prstGeom prst="rect">
            <a:avLst/>
          </a:prstGeom>
          <a:noFill/>
          <a:ln>
            <a:noFill/>
          </a:ln>
        </p:spPr>
      </p:pic>
      <p:sp>
        <p:nvSpPr>
          <p:cNvPr id="60" name="Google Shape;60;p3"/>
          <p:cNvSpPr/>
          <p:nvPr/>
        </p:nvSpPr>
        <p:spPr>
          <a:xfrm>
            <a:off x="512064" y="1993392"/>
            <a:ext cx="1078992" cy="713232"/>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2F5496"/>
              </a:buClr>
              <a:buSzPts val="850"/>
              <a:buFont typeface="Calibri"/>
              <a:buNone/>
            </a:pPr>
            <a:r>
              <a:rPr b="1" lang="en-US" sz="850">
                <a:solidFill>
                  <a:srgbClr val="2F5496"/>
                </a:solidFill>
                <a:latin typeface="Calibri"/>
                <a:ea typeface="Calibri"/>
                <a:cs typeface="Calibri"/>
                <a:sym typeface="Calibri"/>
              </a:rPr>
              <a:t>CFPB Consumer Complaints</a:t>
            </a:r>
            <a:endParaRPr/>
          </a:p>
          <a:p>
            <a:pPr indent="0" lvl="0" marL="0" marR="0" rtl="0" algn="ctr">
              <a:lnSpc>
                <a:spcPct val="90000"/>
              </a:lnSpc>
              <a:spcBef>
                <a:spcPts val="0"/>
              </a:spcBef>
              <a:spcAft>
                <a:spcPts val="0"/>
              </a:spcAft>
              <a:buClr>
                <a:srgbClr val="2F5496"/>
              </a:buClr>
              <a:buSzPts val="850"/>
              <a:buFont typeface="Calibri"/>
              <a:buNone/>
            </a:pPr>
            <a:r>
              <a:rPr b="1" lang="en-US" sz="850">
                <a:solidFill>
                  <a:srgbClr val="2F5496"/>
                </a:solidFill>
                <a:latin typeface="Calibri"/>
                <a:ea typeface="Calibri"/>
                <a:cs typeface="Calibri"/>
                <a:sym typeface="Calibri"/>
              </a:rPr>
              <a:t>Dataset </a:t>
            </a:r>
            <a:endParaRPr/>
          </a:p>
          <a:p>
            <a:pPr indent="0" lvl="0" marL="0" marR="0" rtl="0" algn="ctr">
              <a:lnSpc>
                <a:spcPct val="90000"/>
              </a:lnSpc>
              <a:spcBef>
                <a:spcPts val="0"/>
              </a:spcBef>
              <a:spcAft>
                <a:spcPts val="0"/>
              </a:spcAft>
              <a:buClr>
                <a:srgbClr val="1E293B"/>
              </a:buClr>
              <a:buSzPts val="850"/>
              <a:buFont typeface="Calibri"/>
              <a:buNone/>
            </a:pPr>
            <a:r>
              <a:rPr b="1" lang="en-US" sz="850">
                <a:solidFill>
                  <a:srgbClr val="1E293B"/>
                </a:solidFill>
                <a:latin typeface="Calibri"/>
                <a:ea typeface="Calibri"/>
                <a:cs typeface="Calibri"/>
                <a:sym typeface="Calibri"/>
              </a:rPr>
              <a:t>Raw 8 GB &gt; dataset</a:t>
            </a:r>
            <a:endParaRPr sz="850">
              <a:solidFill>
                <a:schemeClr val="dk1"/>
              </a:solidFill>
              <a:latin typeface="Calibri"/>
              <a:ea typeface="Calibri"/>
              <a:cs typeface="Calibri"/>
              <a:sym typeface="Calibri"/>
            </a:endParaRPr>
          </a:p>
        </p:txBody>
      </p:sp>
      <p:sp>
        <p:nvSpPr>
          <p:cNvPr id="61" name="Google Shape;61;p3"/>
          <p:cNvSpPr/>
          <p:nvPr/>
        </p:nvSpPr>
        <p:spPr>
          <a:xfrm rot="5400000">
            <a:off x="1682496" y="1979676"/>
            <a:ext cx="146304" cy="201168"/>
          </a:xfrm>
          <a:prstGeom prst="triangle">
            <a:avLst>
              <a:gd fmla="val 50000" name="adj"/>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1865376" y="1417320"/>
            <a:ext cx="1188720" cy="1325880"/>
          </a:xfrm>
          <a:prstGeom prst="roundRect">
            <a:avLst>
              <a:gd fmla="val 5385"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2249424" y="1536192"/>
            <a:ext cx="420624" cy="420624"/>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1920240" y="1993392"/>
            <a:ext cx="1078992" cy="713232"/>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2F5496"/>
              </a:buClr>
              <a:buSzPts val="850"/>
              <a:buFont typeface="Calibri"/>
              <a:buNone/>
            </a:pPr>
            <a:r>
              <a:rPr b="1" lang="en-US" sz="850">
                <a:solidFill>
                  <a:srgbClr val="2F5496"/>
                </a:solidFill>
                <a:latin typeface="Calibri"/>
                <a:ea typeface="Calibri"/>
                <a:cs typeface="Calibri"/>
                <a:sym typeface="Calibri"/>
              </a:rPr>
              <a:t>Data Preprocessing</a:t>
            </a:r>
            <a:endParaRPr/>
          </a:p>
          <a:p>
            <a:pPr indent="0" lvl="0" marL="0" marR="0" rtl="0" algn="ctr">
              <a:lnSpc>
                <a:spcPct val="90000"/>
              </a:lnSpc>
              <a:spcBef>
                <a:spcPts val="0"/>
              </a:spcBef>
              <a:spcAft>
                <a:spcPts val="0"/>
              </a:spcAft>
              <a:buClr>
                <a:schemeClr val="dk1"/>
              </a:buClr>
              <a:buSzPts val="850"/>
              <a:buFont typeface="Calibri"/>
              <a:buNone/>
            </a:pPr>
            <a:r>
              <a:rPr b="1" lang="en-US" sz="850">
                <a:solidFill>
                  <a:schemeClr val="dk1"/>
                </a:solidFill>
                <a:latin typeface="Calibri"/>
                <a:ea typeface="Calibri"/>
                <a:cs typeface="Calibri"/>
                <a:sym typeface="Calibri"/>
              </a:rPr>
              <a:t>Train set : 12k</a:t>
            </a:r>
            <a:endParaRPr/>
          </a:p>
          <a:p>
            <a:pPr indent="0" lvl="0" marL="0" marR="0" rtl="0" algn="ctr">
              <a:lnSpc>
                <a:spcPct val="90000"/>
              </a:lnSpc>
              <a:spcBef>
                <a:spcPts val="0"/>
              </a:spcBef>
              <a:spcAft>
                <a:spcPts val="0"/>
              </a:spcAft>
              <a:buClr>
                <a:schemeClr val="dk1"/>
              </a:buClr>
              <a:buSzPts val="850"/>
              <a:buFont typeface="Calibri"/>
              <a:buNone/>
            </a:pPr>
            <a:r>
              <a:rPr b="1" lang="en-US" sz="850">
                <a:solidFill>
                  <a:schemeClr val="dk1"/>
                </a:solidFill>
                <a:latin typeface="Calibri"/>
                <a:ea typeface="Calibri"/>
                <a:cs typeface="Calibri"/>
                <a:sym typeface="Calibri"/>
              </a:rPr>
              <a:t>Test set : 500</a:t>
            </a:r>
            <a:endParaRPr/>
          </a:p>
          <a:p>
            <a:pPr indent="0" lvl="0" marL="0" marR="0" rtl="0" algn="ctr">
              <a:lnSpc>
                <a:spcPct val="90000"/>
              </a:lnSpc>
              <a:spcBef>
                <a:spcPts val="0"/>
              </a:spcBef>
              <a:spcAft>
                <a:spcPts val="0"/>
              </a:spcAft>
              <a:buClr>
                <a:schemeClr val="dk1"/>
              </a:buClr>
              <a:buSzPts val="850"/>
              <a:buFont typeface="Calibri"/>
              <a:buNone/>
            </a:pPr>
            <a:r>
              <a:rPr b="1" lang="en-US" sz="850">
                <a:solidFill>
                  <a:schemeClr val="dk1"/>
                </a:solidFill>
                <a:latin typeface="Calibri"/>
                <a:ea typeface="Calibri"/>
                <a:cs typeface="Calibri"/>
                <a:sym typeface="Calibri"/>
              </a:rPr>
              <a:t>Val set : 500</a:t>
            </a:r>
            <a:endParaRPr b="1" sz="850">
              <a:solidFill>
                <a:schemeClr val="dk1"/>
              </a:solidFill>
              <a:latin typeface="Calibri"/>
              <a:ea typeface="Calibri"/>
              <a:cs typeface="Calibri"/>
              <a:sym typeface="Calibri"/>
            </a:endParaRPr>
          </a:p>
        </p:txBody>
      </p:sp>
      <p:sp>
        <p:nvSpPr>
          <p:cNvPr id="65" name="Google Shape;65;p3"/>
          <p:cNvSpPr/>
          <p:nvPr/>
        </p:nvSpPr>
        <p:spPr>
          <a:xfrm rot="5400000">
            <a:off x="3090672" y="1979676"/>
            <a:ext cx="146304" cy="201168"/>
          </a:xfrm>
          <a:prstGeom prst="triangle">
            <a:avLst>
              <a:gd fmla="val 50000" name="adj"/>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3273552" y="1417320"/>
            <a:ext cx="1188720" cy="1325880"/>
          </a:xfrm>
          <a:prstGeom prst="roundRect">
            <a:avLst>
              <a:gd fmla="val 5385"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3657600" y="1536192"/>
            <a:ext cx="420624" cy="420624"/>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3328416" y="1993392"/>
            <a:ext cx="1078992" cy="713232"/>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2F5496"/>
              </a:buClr>
              <a:buSzPts val="850"/>
              <a:buFont typeface="Calibri"/>
              <a:buNone/>
            </a:pPr>
            <a:r>
              <a:rPr b="1" lang="en-US" sz="850">
                <a:solidFill>
                  <a:srgbClr val="2F5496"/>
                </a:solidFill>
                <a:latin typeface="Calibri"/>
                <a:ea typeface="Calibri"/>
                <a:cs typeface="Calibri"/>
                <a:sym typeface="Calibri"/>
              </a:rPr>
              <a:t>Base Model Test</a:t>
            </a:r>
            <a:endParaRPr/>
          </a:p>
          <a:p>
            <a:pPr indent="0" lvl="0" marL="0" marR="0" rtl="0" algn="ctr">
              <a:lnSpc>
                <a:spcPct val="90000"/>
              </a:lnSpc>
              <a:spcBef>
                <a:spcPts val="0"/>
              </a:spcBef>
              <a:spcAft>
                <a:spcPts val="0"/>
              </a:spcAft>
              <a:buNone/>
            </a:pPr>
            <a:r>
              <a:rPr b="1" lang="en-US" sz="850">
                <a:solidFill>
                  <a:srgbClr val="1E293B"/>
                </a:solidFill>
                <a:latin typeface="Calibri"/>
                <a:ea typeface="Calibri"/>
                <a:cs typeface="Calibri"/>
                <a:sym typeface="Calibri"/>
              </a:rPr>
              <a:t>Test the </a:t>
            </a:r>
            <a:r>
              <a:rPr b="1" i="1" lang="en-US" sz="850">
                <a:solidFill>
                  <a:srgbClr val="1E293B"/>
                </a:solidFill>
                <a:latin typeface="Calibri"/>
                <a:ea typeface="Calibri"/>
                <a:cs typeface="Calibri"/>
                <a:sym typeface="Calibri"/>
              </a:rPr>
              <a:t>Qwen/Qwen2.5-7B-Instruct model on test data to find base metrics</a:t>
            </a:r>
            <a:endParaRPr b="1" sz="850">
              <a:solidFill>
                <a:srgbClr val="1E293B"/>
              </a:solidFill>
              <a:latin typeface="Calibri"/>
              <a:ea typeface="Calibri"/>
              <a:cs typeface="Calibri"/>
              <a:sym typeface="Calibri"/>
            </a:endParaRPr>
          </a:p>
          <a:p>
            <a:pPr indent="0" lvl="0" marL="0" marR="0" rtl="0" algn="ctr">
              <a:lnSpc>
                <a:spcPct val="90000"/>
              </a:lnSpc>
              <a:spcBef>
                <a:spcPts val="0"/>
              </a:spcBef>
              <a:spcAft>
                <a:spcPts val="0"/>
              </a:spcAft>
              <a:buClr>
                <a:srgbClr val="1E293B"/>
              </a:buClr>
              <a:buSzPts val="850"/>
              <a:buFont typeface="Calibri"/>
              <a:buNone/>
            </a:pPr>
            <a:r>
              <a:rPr b="1" lang="en-US" sz="850">
                <a:solidFill>
                  <a:srgbClr val="1E293B"/>
                </a:solidFill>
                <a:latin typeface="Calibri"/>
                <a:ea typeface="Calibri"/>
                <a:cs typeface="Calibri"/>
                <a:sym typeface="Calibri"/>
              </a:rPr>
              <a:t> </a:t>
            </a:r>
            <a:endParaRPr sz="850">
              <a:solidFill>
                <a:schemeClr val="dk1"/>
              </a:solidFill>
              <a:latin typeface="Calibri"/>
              <a:ea typeface="Calibri"/>
              <a:cs typeface="Calibri"/>
              <a:sym typeface="Calibri"/>
            </a:endParaRPr>
          </a:p>
        </p:txBody>
      </p:sp>
      <p:sp>
        <p:nvSpPr>
          <p:cNvPr id="69" name="Google Shape;69;p3"/>
          <p:cNvSpPr/>
          <p:nvPr/>
        </p:nvSpPr>
        <p:spPr>
          <a:xfrm rot="5400000">
            <a:off x="4498848" y="1979676"/>
            <a:ext cx="146304" cy="201168"/>
          </a:xfrm>
          <a:prstGeom prst="triangle">
            <a:avLst>
              <a:gd fmla="val 50000" name="adj"/>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4681728" y="1417320"/>
            <a:ext cx="1188720" cy="1325880"/>
          </a:xfrm>
          <a:prstGeom prst="roundRect">
            <a:avLst>
              <a:gd fmla="val 5385"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5065776" y="1536192"/>
            <a:ext cx="420624" cy="420624"/>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3"/>
          <p:cNvPicPr preferRelativeResize="0"/>
          <p:nvPr/>
        </p:nvPicPr>
        <p:blipFill rotWithShape="1">
          <a:blip r:embed="rId4">
            <a:alphaModFix/>
          </a:blip>
          <a:srcRect b="0" l="0" r="0" t="0"/>
          <a:stretch/>
        </p:blipFill>
        <p:spPr>
          <a:xfrm>
            <a:off x="2362992" y="1666423"/>
            <a:ext cx="193487" cy="193487"/>
          </a:xfrm>
          <a:prstGeom prst="rect">
            <a:avLst/>
          </a:prstGeom>
          <a:noFill/>
          <a:ln>
            <a:noFill/>
          </a:ln>
        </p:spPr>
      </p:pic>
      <p:sp>
        <p:nvSpPr>
          <p:cNvPr id="73" name="Google Shape;73;p3"/>
          <p:cNvSpPr/>
          <p:nvPr/>
        </p:nvSpPr>
        <p:spPr>
          <a:xfrm>
            <a:off x="4736592" y="1993392"/>
            <a:ext cx="1078992" cy="713232"/>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2F5496"/>
              </a:buClr>
              <a:buSzPts val="850"/>
              <a:buFont typeface="Calibri"/>
              <a:buNone/>
            </a:pPr>
            <a:r>
              <a:rPr b="1" lang="en-US" sz="850">
                <a:solidFill>
                  <a:srgbClr val="2F5496"/>
                </a:solidFill>
                <a:latin typeface="Calibri"/>
                <a:ea typeface="Calibri"/>
                <a:cs typeface="Calibri"/>
                <a:sym typeface="Calibri"/>
              </a:rPr>
              <a:t>Fine Tuning the model</a:t>
            </a:r>
            <a:endParaRPr/>
          </a:p>
          <a:p>
            <a:pPr indent="0" lvl="0" marL="0" marR="0" rtl="0" algn="ctr">
              <a:lnSpc>
                <a:spcPct val="90000"/>
              </a:lnSpc>
              <a:spcBef>
                <a:spcPts val="0"/>
              </a:spcBef>
              <a:spcAft>
                <a:spcPts val="0"/>
              </a:spcAft>
              <a:buClr>
                <a:schemeClr val="dk1"/>
              </a:buClr>
              <a:buSzPts val="850"/>
              <a:buFont typeface="Calibri"/>
              <a:buNone/>
            </a:pPr>
            <a:r>
              <a:rPr b="1" lang="en-US" sz="850">
                <a:solidFill>
                  <a:schemeClr val="dk1"/>
                </a:solidFill>
                <a:latin typeface="Calibri"/>
                <a:ea typeface="Calibri"/>
                <a:cs typeface="Calibri"/>
                <a:sym typeface="Calibri"/>
              </a:rPr>
              <a:t>Training the model on train dataset using </a:t>
            </a:r>
            <a:r>
              <a:rPr b="1" i="1" lang="en-US" sz="850">
                <a:solidFill>
                  <a:schemeClr val="dk1"/>
                </a:solidFill>
                <a:latin typeface="Calibri"/>
                <a:ea typeface="Calibri"/>
                <a:cs typeface="Calibri"/>
                <a:sym typeface="Calibri"/>
              </a:rPr>
              <a:t>QLoRA + PEFT</a:t>
            </a:r>
            <a:endParaRPr i="1" sz="850">
              <a:solidFill>
                <a:schemeClr val="dk1"/>
              </a:solidFill>
              <a:latin typeface="Calibri"/>
              <a:ea typeface="Calibri"/>
              <a:cs typeface="Calibri"/>
              <a:sym typeface="Calibri"/>
            </a:endParaRPr>
          </a:p>
        </p:txBody>
      </p:sp>
      <p:sp>
        <p:nvSpPr>
          <p:cNvPr id="74" name="Google Shape;74;p3"/>
          <p:cNvSpPr/>
          <p:nvPr/>
        </p:nvSpPr>
        <p:spPr>
          <a:xfrm rot="5400000">
            <a:off x="5907024" y="1979676"/>
            <a:ext cx="146304" cy="201168"/>
          </a:xfrm>
          <a:prstGeom prst="triangle">
            <a:avLst>
              <a:gd fmla="val 50000" name="adj"/>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6089904" y="1417320"/>
            <a:ext cx="1188720" cy="1325880"/>
          </a:xfrm>
          <a:prstGeom prst="roundRect">
            <a:avLst>
              <a:gd fmla="val 5385"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473952" y="1536192"/>
            <a:ext cx="420624" cy="420624"/>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3"/>
          <p:cNvPicPr preferRelativeResize="0"/>
          <p:nvPr/>
        </p:nvPicPr>
        <p:blipFill rotWithShape="1">
          <a:blip r:embed="rId5">
            <a:alphaModFix/>
          </a:blip>
          <a:srcRect b="0" l="0" r="0" t="0"/>
          <a:stretch/>
        </p:blipFill>
        <p:spPr>
          <a:xfrm>
            <a:off x="5171216" y="1656872"/>
            <a:ext cx="193487" cy="193487"/>
          </a:xfrm>
          <a:prstGeom prst="rect">
            <a:avLst/>
          </a:prstGeom>
          <a:noFill/>
          <a:ln>
            <a:noFill/>
          </a:ln>
        </p:spPr>
      </p:pic>
      <p:sp>
        <p:nvSpPr>
          <p:cNvPr id="78" name="Google Shape;78;p3"/>
          <p:cNvSpPr/>
          <p:nvPr/>
        </p:nvSpPr>
        <p:spPr>
          <a:xfrm>
            <a:off x="6144768" y="1993392"/>
            <a:ext cx="1078992" cy="713232"/>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2F5496"/>
              </a:buClr>
              <a:buSzPts val="850"/>
              <a:buFont typeface="Calibri"/>
              <a:buNone/>
            </a:pPr>
            <a:r>
              <a:rPr b="1" lang="en-US" sz="850">
                <a:solidFill>
                  <a:srgbClr val="2F5496"/>
                </a:solidFill>
                <a:latin typeface="Calibri"/>
                <a:ea typeface="Calibri"/>
                <a:cs typeface="Calibri"/>
                <a:sym typeface="Calibri"/>
              </a:rPr>
              <a:t>F.T. model Test</a:t>
            </a:r>
            <a:endParaRPr/>
          </a:p>
          <a:p>
            <a:pPr indent="0" lvl="0" marL="0" marR="0" rtl="0" algn="ctr">
              <a:lnSpc>
                <a:spcPct val="90000"/>
              </a:lnSpc>
              <a:spcBef>
                <a:spcPts val="0"/>
              </a:spcBef>
              <a:spcAft>
                <a:spcPts val="0"/>
              </a:spcAft>
              <a:buClr>
                <a:srgbClr val="1E293B"/>
              </a:buClr>
              <a:buSzPts val="850"/>
              <a:buFont typeface="Calibri"/>
              <a:buNone/>
            </a:pPr>
            <a:r>
              <a:rPr b="1" lang="en-US" sz="850">
                <a:solidFill>
                  <a:srgbClr val="1E293B"/>
                </a:solidFill>
                <a:latin typeface="Calibri"/>
                <a:ea typeface="Calibri"/>
                <a:cs typeface="Calibri"/>
                <a:sym typeface="Calibri"/>
              </a:rPr>
              <a:t>Evaluating the F.T model on various metrics on test data</a:t>
            </a:r>
            <a:endParaRPr sz="850">
              <a:solidFill>
                <a:schemeClr val="dk1"/>
              </a:solidFill>
              <a:latin typeface="Calibri"/>
              <a:ea typeface="Calibri"/>
              <a:cs typeface="Calibri"/>
              <a:sym typeface="Calibri"/>
            </a:endParaRPr>
          </a:p>
        </p:txBody>
      </p:sp>
      <p:sp>
        <p:nvSpPr>
          <p:cNvPr id="79" name="Google Shape;79;p3"/>
          <p:cNvSpPr/>
          <p:nvPr/>
        </p:nvSpPr>
        <p:spPr>
          <a:xfrm rot="5400000">
            <a:off x="7315200" y="1979676"/>
            <a:ext cx="146304" cy="201168"/>
          </a:xfrm>
          <a:prstGeom prst="triangle">
            <a:avLst>
              <a:gd fmla="val 50000" name="adj"/>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498080" y="1417320"/>
            <a:ext cx="1188720" cy="1325880"/>
          </a:xfrm>
          <a:prstGeom prst="roundRect">
            <a:avLst>
              <a:gd fmla="val 5385"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7882128" y="1536192"/>
            <a:ext cx="420624" cy="420624"/>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7552944" y="1993392"/>
            <a:ext cx="1078992" cy="713232"/>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2F5496"/>
              </a:buClr>
              <a:buSzPts val="850"/>
              <a:buFont typeface="Calibri"/>
              <a:buNone/>
            </a:pPr>
            <a:r>
              <a:rPr b="1" lang="en-US" sz="850">
                <a:solidFill>
                  <a:srgbClr val="2F5496"/>
                </a:solidFill>
                <a:latin typeface="Calibri"/>
                <a:ea typeface="Calibri"/>
                <a:cs typeface="Calibri"/>
                <a:sym typeface="Calibri"/>
              </a:rPr>
              <a:t>Final Inference</a:t>
            </a:r>
            <a:endParaRPr/>
          </a:p>
          <a:p>
            <a:pPr indent="0" lvl="0" marL="0" marR="0" rtl="0" algn="ctr">
              <a:lnSpc>
                <a:spcPct val="90000"/>
              </a:lnSpc>
              <a:spcBef>
                <a:spcPts val="0"/>
              </a:spcBef>
              <a:spcAft>
                <a:spcPts val="0"/>
              </a:spcAft>
              <a:buClr>
                <a:srgbClr val="1E293B"/>
              </a:buClr>
              <a:buSzPts val="850"/>
              <a:buFont typeface="Calibri"/>
              <a:buNone/>
            </a:pPr>
            <a:r>
              <a:rPr b="1" lang="en-US" sz="850">
                <a:solidFill>
                  <a:srgbClr val="1E293B"/>
                </a:solidFill>
                <a:latin typeface="Calibri"/>
                <a:ea typeface="Calibri"/>
                <a:cs typeface="Calibri"/>
                <a:sym typeface="Calibri"/>
              </a:rPr>
              <a:t>Merge the LoRA adapters with base model and Inference on new input</a:t>
            </a:r>
            <a:endParaRPr sz="850">
              <a:solidFill>
                <a:schemeClr val="dk1"/>
              </a:solidFill>
              <a:latin typeface="Calibri"/>
              <a:ea typeface="Calibri"/>
              <a:cs typeface="Calibri"/>
              <a:sym typeface="Calibri"/>
            </a:endParaRPr>
          </a:p>
        </p:txBody>
      </p:sp>
      <p:sp>
        <p:nvSpPr>
          <p:cNvPr id="83" name="Google Shape;83;p3"/>
          <p:cNvSpPr/>
          <p:nvPr/>
        </p:nvSpPr>
        <p:spPr>
          <a:xfrm>
            <a:off x="457200" y="2971800"/>
            <a:ext cx="5029200" cy="1920240"/>
          </a:xfrm>
          <a:prstGeom prst="roundRect">
            <a:avLst>
              <a:gd fmla="val 3333"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685800" y="31089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100"/>
              <a:buFont typeface="Calibri"/>
              <a:buNone/>
            </a:pPr>
            <a:r>
              <a:rPr b="1" lang="en-US" sz="1100">
                <a:solidFill>
                  <a:srgbClr val="0E7AA8"/>
                </a:solidFill>
                <a:latin typeface="Calibri"/>
                <a:ea typeface="Calibri"/>
                <a:cs typeface="Calibri"/>
                <a:sym typeface="Calibri"/>
              </a:rPr>
              <a:t>AI APPROACH</a:t>
            </a:r>
            <a:endParaRPr sz="1100">
              <a:solidFill>
                <a:schemeClr val="dk1"/>
              </a:solidFill>
              <a:latin typeface="Calibri"/>
              <a:ea typeface="Calibri"/>
              <a:cs typeface="Calibri"/>
              <a:sym typeface="Calibri"/>
            </a:endParaRPr>
          </a:p>
        </p:txBody>
      </p:sp>
      <p:sp>
        <p:nvSpPr>
          <p:cNvPr id="85" name="Google Shape;85;p3"/>
          <p:cNvSpPr/>
          <p:nvPr/>
        </p:nvSpPr>
        <p:spPr>
          <a:xfrm>
            <a:off x="685800" y="3429000"/>
            <a:ext cx="4572000" cy="1371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250">
                <a:solidFill>
                  <a:srgbClr val="1E293B"/>
                </a:solidFill>
                <a:latin typeface="Calibri"/>
                <a:ea typeface="Calibri"/>
                <a:cs typeface="Calibri"/>
                <a:sym typeface="Calibri"/>
              </a:rPr>
              <a:t>QLoRA-based supervised fine-tuning transforms Qwen2.5-7B into a domain-specialized complaint understanding model. The system converts unstructured banking complaint narratives into structured CFPB-compliant metadata (Product, Sub-Product, Issue, Sub-Issue) in a single inference call, eliminating manual categorization and routing delays.</a:t>
            </a:r>
            <a:endParaRPr sz="1250">
              <a:solidFill>
                <a:schemeClr val="dk1"/>
              </a:solidFill>
              <a:latin typeface="Calibri"/>
              <a:ea typeface="Calibri"/>
              <a:cs typeface="Calibri"/>
              <a:sym typeface="Calibri"/>
            </a:endParaRPr>
          </a:p>
        </p:txBody>
      </p:sp>
      <p:sp>
        <p:nvSpPr>
          <p:cNvPr id="86" name="Google Shape;86;p3"/>
          <p:cNvSpPr/>
          <p:nvPr/>
        </p:nvSpPr>
        <p:spPr>
          <a:xfrm>
            <a:off x="5669279" y="2971800"/>
            <a:ext cx="3311687" cy="1920240"/>
          </a:xfrm>
          <a:prstGeom prst="roundRect">
            <a:avLst>
              <a:gd fmla="val 3333"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5897880" y="3108960"/>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100"/>
              <a:buFont typeface="Calibri"/>
              <a:buNone/>
            </a:pPr>
            <a:r>
              <a:rPr b="1" lang="en-US" sz="1100">
                <a:solidFill>
                  <a:srgbClr val="0E7AA8"/>
                </a:solidFill>
                <a:latin typeface="Calibri"/>
                <a:ea typeface="Calibri"/>
                <a:cs typeface="Calibri"/>
                <a:sym typeface="Calibri"/>
              </a:rPr>
              <a:t>TECH STACK</a:t>
            </a:r>
            <a:endParaRPr sz="1100">
              <a:solidFill>
                <a:schemeClr val="dk1"/>
              </a:solidFill>
              <a:latin typeface="Calibri"/>
              <a:ea typeface="Calibri"/>
              <a:cs typeface="Calibri"/>
              <a:sym typeface="Calibri"/>
            </a:endParaRPr>
          </a:p>
        </p:txBody>
      </p:sp>
      <p:sp>
        <p:nvSpPr>
          <p:cNvPr id="88" name="Google Shape;88;p3"/>
          <p:cNvSpPr/>
          <p:nvPr/>
        </p:nvSpPr>
        <p:spPr>
          <a:xfrm>
            <a:off x="5897880" y="3456432"/>
            <a:ext cx="1389888" cy="384048"/>
          </a:xfrm>
          <a:prstGeom prst="roundRect">
            <a:avLst>
              <a:gd fmla="val 14286" name="adj"/>
            </a:avLst>
          </a:prstGeom>
          <a:solidFill>
            <a:srgbClr val="F5F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5897880" y="34564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900"/>
              <a:buFont typeface="Calibri"/>
              <a:buNone/>
            </a:pPr>
            <a:r>
              <a:rPr b="1" lang="en-US" sz="900">
                <a:solidFill>
                  <a:srgbClr val="0E1B2E"/>
                </a:solidFill>
                <a:latin typeface="Calibri"/>
                <a:ea typeface="Calibri"/>
                <a:cs typeface="Calibri"/>
                <a:sym typeface="Calibri"/>
              </a:rPr>
              <a:t>Qwen2.5-7B-Instruct</a:t>
            </a:r>
            <a:endParaRPr sz="900">
              <a:solidFill>
                <a:schemeClr val="dk1"/>
              </a:solidFill>
              <a:latin typeface="Calibri"/>
              <a:ea typeface="Calibri"/>
              <a:cs typeface="Calibri"/>
              <a:sym typeface="Calibri"/>
            </a:endParaRPr>
          </a:p>
        </p:txBody>
      </p:sp>
      <p:sp>
        <p:nvSpPr>
          <p:cNvPr id="90" name="Google Shape;90;p3"/>
          <p:cNvSpPr/>
          <p:nvPr/>
        </p:nvSpPr>
        <p:spPr>
          <a:xfrm>
            <a:off x="7379208" y="3456432"/>
            <a:ext cx="1389888" cy="384048"/>
          </a:xfrm>
          <a:prstGeom prst="roundRect">
            <a:avLst>
              <a:gd fmla="val 14286" name="adj"/>
            </a:avLst>
          </a:prstGeom>
          <a:solidFill>
            <a:srgbClr val="F5F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7379208" y="34564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900"/>
              <a:buFont typeface="Calibri"/>
              <a:buNone/>
            </a:pPr>
            <a:r>
              <a:rPr b="1" lang="en-US" sz="900">
                <a:solidFill>
                  <a:srgbClr val="0E1B2E"/>
                </a:solidFill>
                <a:latin typeface="Calibri"/>
                <a:ea typeface="Calibri"/>
                <a:cs typeface="Calibri"/>
                <a:sym typeface="Calibri"/>
              </a:rPr>
              <a:t>QLoRA / PEFT</a:t>
            </a:r>
            <a:endParaRPr sz="900">
              <a:solidFill>
                <a:schemeClr val="dk1"/>
              </a:solidFill>
              <a:latin typeface="Calibri"/>
              <a:ea typeface="Calibri"/>
              <a:cs typeface="Calibri"/>
              <a:sym typeface="Calibri"/>
            </a:endParaRPr>
          </a:p>
        </p:txBody>
      </p:sp>
      <p:sp>
        <p:nvSpPr>
          <p:cNvPr id="92" name="Google Shape;92;p3"/>
          <p:cNvSpPr/>
          <p:nvPr/>
        </p:nvSpPr>
        <p:spPr>
          <a:xfrm>
            <a:off x="5897880" y="3913632"/>
            <a:ext cx="1389888" cy="384048"/>
          </a:xfrm>
          <a:prstGeom prst="roundRect">
            <a:avLst>
              <a:gd fmla="val 14286" name="adj"/>
            </a:avLst>
          </a:prstGeom>
          <a:solidFill>
            <a:srgbClr val="F5F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5897880" y="39136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900"/>
              <a:buFont typeface="Calibri"/>
              <a:buNone/>
            </a:pPr>
            <a:r>
              <a:rPr b="1" lang="en-US" sz="900">
                <a:solidFill>
                  <a:srgbClr val="0E1B2E"/>
                </a:solidFill>
                <a:latin typeface="Calibri"/>
                <a:ea typeface="Calibri"/>
                <a:cs typeface="Calibri"/>
                <a:sym typeface="Calibri"/>
              </a:rPr>
              <a:t>Transformers + TRL</a:t>
            </a:r>
            <a:endParaRPr sz="900">
              <a:solidFill>
                <a:schemeClr val="dk1"/>
              </a:solidFill>
              <a:latin typeface="Calibri"/>
              <a:ea typeface="Calibri"/>
              <a:cs typeface="Calibri"/>
              <a:sym typeface="Calibri"/>
            </a:endParaRPr>
          </a:p>
        </p:txBody>
      </p:sp>
      <p:sp>
        <p:nvSpPr>
          <p:cNvPr id="94" name="Google Shape;94;p3"/>
          <p:cNvSpPr/>
          <p:nvPr/>
        </p:nvSpPr>
        <p:spPr>
          <a:xfrm>
            <a:off x="7379208" y="3913632"/>
            <a:ext cx="1389888" cy="384048"/>
          </a:xfrm>
          <a:prstGeom prst="roundRect">
            <a:avLst>
              <a:gd fmla="val 14286" name="adj"/>
            </a:avLst>
          </a:prstGeom>
          <a:solidFill>
            <a:srgbClr val="F5F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7379208" y="39136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900"/>
              <a:buFont typeface="Calibri"/>
              <a:buNone/>
            </a:pPr>
            <a:r>
              <a:rPr b="1" lang="en-US" sz="900">
                <a:solidFill>
                  <a:srgbClr val="0E1B2E"/>
                </a:solidFill>
                <a:latin typeface="Calibri"/>
                <a:ea typeface="Calibri"/>
                <a:cs typeface="Calibri"/>
                <a:sym typeface="Calibri"/>
              </a:rPr>
              <a:t>AMD ROCm 7.2.4</a:t>
            </a:r>
            <a:endParaRPr sz="900">
              <a:solidFill>
                <a:schemeClr val="dk1"/>
              </a:solidFill>
              <a:latin typeface="Calibri"/>
              <a:ea typeface="Calibri"/>
              <a:cs typeface="Calibri"/>
              <a:sym typeface="Calibri"/>
            </a:endParaRPr>
          </a:p>
        </p:txBody>
      </p:sp>
      <p:sp>
        <p:nvSpPr>
          <p:cNvPr id="96" name="Google Shape;96;p3"/>
          <p:cNvSpPr/>
          <p:nvPr/>
        </p:nvSpPr>
        <p:spPr>
          <a:xfrm>
            <a:off x="5897880" y="4370832"/>
            <a:ext cx="1389888" cy="384048"/>
          </a:xfrm>
          <a:prstGeom prst="roundRect">
            <a:avLst>
              <a:gd fmla="val 14286" name="adj"/>
            </a:avLst>
          </a:prstGeom>
          <a:solidFill>
            <a:srgbClr val="F5F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5897880" y="43708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900"/>
              <a:buFont typeface="Calibri"/>
              <a:buNone/>
            </a:pPr>
            <a:r>
              <a:rPr b="1" lang="en-US" sz="900">
                <a:solidFill>
                  <a:srgbClr val="0E1B2E"/>
                </a:solidFill>
                <a:latin typeface="Calibri"/>
                <a:ea typeface="Calibri"/>
                <a:cs typeface="Calibri"/>
                <a:sym typeface="Calibri"/>
              </a:rPr>
              <a:t>AMD Instinct MI300X</a:t>
            </a:r>
            <a:endParaRPr sz="900">
              <a:solidFill>
                <a:schemeClr val="dk1"/>
              </a:solidFill>
              <a:latin typeface="Calibri"/>
              <a:ea typeface="Calibri"/>
              <a:cs typeface="Calibri"/>
              <a:sym typeface="Calibri"/>
            </a:endParaRPr>
          </a:p>
        </p:txBody>
      </p:sp>
      <p:sp>
        <p:nvSpPr>
          <p:cNvPr id="98" name="Google Shape;98;p3"/>
          <p:cNvSpPr/>
          <p:nvPr/>
        </p:nvSpPr>
        <p:spPr>
          <a:xfrm>
            <a:off x="7379208" y="4370832"/>
            <a:ext cx="1389888" cy="384048"/>
          </a:xfrm>
          <a:prstGeom prst="roundRect">
            <a:avLst>
              <a:gd fmla="val 14286" name="adj"/>
            </a:avLst>
          </a:prstGeom>
          <a:solidFill>
            <a:srgbClr val="F5F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7379208" y="43708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900"/>
              <a:buFont typeface="Calibri"/>
              <a:buNone/>
            </a:pPr>
            <a:r>
              <a:rPr b="1" lang="en-US" sz="900">
                <a:solidFill>
                  <a:srgbClr val="0E1B2E"/>
                </a:solidFill>
                <a:latin typeface="Calibri"/>
                <a:ea typeface="Calibri"/>
                <a:cs typeface="Calibri"/>
                <a:sym typeface="Calibri"/>
              </a:rPr>
              <a:t>Polars + JSONL</a:t>
            </a:r>
            <a:endParaRPr sz="900">
              <a:solidFill>
                <a:schemeClr val="dk1"/>
              </a:solidFill>
              <a:latin typeface="Calibri"/>
              <a:ea typeface="Calibri"/>
              <a:cs typeface="Calibri"/>
              <a:sym typeface="Calibri"/>
            </a:endParaRPr>
          </a:p>
        </p:txBody>
      </p:sp>
      <p:pic>
        <p:nvPicPr>
          <p:cNvPr descr="preencoded.png" id="100" name="Google Shape;100;p3"/>
          <p:cNvPicPr preferRelativeResize="0"/>
          <p:nvPr/>
        </p:nvPicPr>
        <p:blipFill rotWithShape="1">
          <a:blip r:embed="rId6">
            <a:alphaModFix/>
          </a:blip>
          <a:srcRect b="0" l="0" r="0" t="0"/>
          <a:stretch/>
        </p:blipFill>
        <p:spPr>
          <a:xfrm>
            <a:off x="3776248" y="1649760"/>
            <a:ext cx="193487" cy="193487"/>
          </a:xfrm>
          <a:prstGeom prst="rect">
            <a:avLst/>
          </a:prstGeom>
          <a:noFill/>
          <a:ln>
            <a:noFill/>
          </a:ln>
        </p:spPr>
      </p:pic>
      <p:pic>
        <p:nvPicPr>
          <p:cNvPr descr="preencoded.png" id="101" name="Google Shape;101;p3"/>
          <p:cNvPicPr preferRelativeResize="0"/>
          <p:nvPr/>
        </p:nvPicPr>
        <p:blipFill rotWithShape="1">
          <a:blip r:embed="rId6">
            <a:alphaModFix/>
          </a:blip>
          <a:srcRect b="0" l="0" r="0" t="0"/>
          <a:stretch/>
        </p:blipFill>
        <p:spPr>
          <a:xfrm>
            <a:off x="6587520" y="1661973"/>
            <a:ext cx="193487" cy="193487"/>
          </a:xfrm>
          <a:prstGeom prst="rect">
            <a:avLst/>
          </a:prstGeom>
          <a:noFill/>
          <a:ln>
            <a:noFill/>
          </a:ln>
        </p:spPr>
      </p:pic>
      <p:pic>
        <p:nvPicPr>
          <p:cNvPr descr="preencoded.png" id="102" name="Google Shape;102;p3"/>
          <p:cNvPicPr preferRelativeResize="0"/>
          <p:nvPr/>
        </p:nvPicPr>
        <p:blipFill rotWithShape="1">
          <a:blip r:embed="rId3">
            <a:alphaModFix/>
          </a:blip>
          <a:srcRect b="0" l="0" r="0" t="0"/>
          <a:stretch/>
        </p:blipFill>
        <p:spPr>
          <a:xfrm>
            <a:off x="7995696" y="1649760"/>
            <a:ext cx="193487" cy="1934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07" name="Shape 107"/>
        <p:cNvGrpSpPr/>
        <p:nvPr/>
      </p:nvGrpSpPr>
      <p:grpSpPr>
        <a:xfrm>
          <a:off x="0" y="0"/>
          <a:ext cx="0" cy="0"/>
          <a:chOff x="0" y="0"/>
          <a:chExt cx="0" cy="0"/>
        </a:xfrm>
      </p:grpSpPr>
      <p:sp>
        <p:nvSpPr>
          <p:cNvPr id="108" name="Google Shape;108;p4"/>
          <p:cNvSpPr/>
          <p:nvPr/>
        </p:nvSpPr>
        <p:spPr>
          <a:xfrm>
            <a:off x="457200" y="3200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200"/>
              <a:buFont typeface="Calibri"/>
              <a:buNone/>
            </a:pPr>
            <a:r>
              <a:rPr b="1" lang="en-US" sz="1200">
                <a:solidFill>
                  <a:srgbClr val="0E7AA8"/>
                </a:solidFill>
                <a:latin typeface="Calibri"/>
                <a:ea typeface="Calibri"/>
                <a:cs typeface="Calibri"/>
                <a:sym typeface="Calibri"/>
              </a:rPr>
              <a:t>MODEL  INSIGHTS  &amp;  IMPACT</a:t>
            </a:r>
            <a:endParaRPr sz="1200">
              <a:solidFill>
                <a:schemeClr val="dk1"/>
              </a:solidFill>
              <a:latin typeface="Calibri"/>
              <a:ea typeface="Calibri"/>
              <a:cs typeface="Calibri"/>
              <a:sym typeface="Calibri"/>
            </a:endParaRPr>
          </a:p>
        </p:txBody>
      </p:sp>
      <p:sp>
        <p:nvSpPr>
          <p:cNvPr id="109" name="Google Shape;109;p4"/>
          <p:cNvSpPr/>
          <p:nvPr/>
        </p:nvSpPr>
        <p:spPr>
          <a:xfrm>
            <a:off x="457200" y="5943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1B2E"/>
              </a:buClr>
              <a:buSzPts val="2800"/>
              <a:buFont typeface="Arial"/>
              <a:buNone/>
            </a:pPr>
            <a:r>
              <a:rPr b="1" lang="en-US" sz="2800">
                <a:solidFill>
                  <a:srgbClr val="0E1B2E"/>
                </a:solidFill>
                <a:latin typeface="Arial"/>
                <a:ea typeface="Arial"/>
                <a:cs typeface="Arial"/>
                <a:sym typeface="Arial"/>
              </a:rPr>
              <a:t>From 1% to 91% Exact Match</a:t>
            </a:r>
            <a:endParaRPr sz="2800">
              <a:solidFill>
                <a:schemeClr val="dk1"/>
              </a:solidFill>
              <a:latin typeface="Calibri"/>
              <a:ea typeface="Calibri"/>
              <a:cs typeface="Calibri"/>
              <a:sym typeface="Calibri"/>
            </a:endParaRPr>
          </a:p>
        </p:txBody>
      </p:sp>
      <p:sp>
        <p:nvSpPr>
          <p:cNvPr id="110" name="Google Shape;110;p4"/>
          <p:cNvSpPr/>
          <p:nvPr/>
        </p:nvSpPr>
        <p:spPr>
          <a:xfrm>
            <a:off x="457200" y="1371600"/>
            <a:ext cx="1920240" cy="1371600"/>
          </a:xfrm>
          <a:prstGeom prst="roundRect">
            <a:avLst>
              <a:gd fmla="val 4667"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548640" y="1536192"/>
            <a:ext cx="1737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1900"/>
              <a:buFont typeface="Arial"/>
              <a:buNone/>
            </a:pPr>
            <a:r>
              <a:rPr b="1" lang="en-US" sz="1900">
                <a:solidFill>
                  <a:srgbClr val="F2A93B"/>
                </a:solidFill>
                <a:latin typeface="Arial"/>
                <a:ea typeface="Arial"/>
                <a:cs typeface="Arial"/>
                <a:sym typeface="Arial"/>
              </a:rPr>
              <a:t>1.0% → 90.8%</a:t>
            </a:r>
            <a:endParaRPr sz="1900">
              <a:solidFill>
                <a:schemeClr val="dk1"/>
              </a:solidFill>
              <a:latin typeface="Calibri"/>
              <a:ea typeface="Calibri"/>
              <a:cs typeface="Calibri"/>
              <a:sym typeface="Calibri"/>
            </a:endParaRPr>
          </a:p>
        </p:txBody>
      </p:sp>
      <p:sp>
        <p:nvSpPr>
          <p:cNvPr id="112" name="Google Shape;112;p4"/>
          <p:cNvSpPr/>
          <p:nvPr/>
        </p:nvSpPr>
        <p:spPr>
          <a:xfrm>
            <a:off x="548640" y="2148840"/>
            <a:ext cx="1737360" cy="502920"/>
          </a:xfrm>
          <a:prstGeom prst="rect">
            <a:avLst/>
          </a:prstGeom>
          <a:noFill/>
          <a:ln>
            <a:noFill/>
          </a:ln>
        </p:spPr>
        <p:txBody>
          <a:bodyPr anchorCtr="0" anchor="t" bIns="0" lIns="0" spcFirstLastPara="1" rIns="0" wrap="square" tIns="0">
            <a:noAutofit/>
          </a:bodyPr>
          <a:lstStyle/>
          <a:p>
            <a:pPr indent="0" lvl="0" marL="0" marR="0" rtl="0" algn="ctr">
              <a:lnSpc>
                <a:spcPct val="95000"/>
              </a:lnSpc>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Product Classification</a:t>
            </a:r>
            <a:endParaRPr sz="1050">
              <a:solidFill>
                <a:schemeClr val="dk1"/>
              </a:solidFill>
              <a:latin typeface="Calibri"/>
              <a:ea typeface="Calibri"/>
              <a:cs typeface="Calibri"/>
              <a:sym typeface="Calibri"/>
            </a:endParaRPr>
          </a:p>
          <a:p>
            <a:pPr indent="0" lvl="0" marL="0" marR="0" rtl="0" algn="ctr">
              <a:lnSpc>
                <a:spcPct val="95000"/>
              </a:lnSpc>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Exact Match</a:t>
            </a:r>
            <a:endParaRPr sz="1050">
              <a:solidFill>
                <a:schemeClr val="dk1"/>
              </a:solidFill>
              <a:latin typeface="Calibri"/>
              <a:ea typeface="Calibri"/>
              <a:cs typeface="Calibri"/>
              <a:sym typeface="Calibri"/>
            </a:endParaRPr>
          </a:p>
        </p:txBody>
      </p:sp>
      <p:sp>
        <p:nvSpPr>
          <p:cNvPr id="113" name="Google Shape;113;p4"/>
          <p:cNvSpPr/>
          <p:nvPr/>
        </p:nvSpPr>
        <p:spPr>
          <a:xfrm>
            <a:off x="2560320" y="1371600"/>
            <a:ext cx="1920240" cy="1371600"/>
          </a:xfrm>
          <a:prstGeom prst="roundRect">
            <a:avLst>
              <a:gd fmla="val 4667"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2513886" y="1536200"/>
            <a:ext cx="20118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1900"/>
              <a:buFont typeface="Arial"/>
              <a:buNone/>
            </a:pPr>
            <a:r>
              <a:rPr b="1" lang="en-US" sz="1900">
                <a:solidFill>
                  <a:srgbClr val="F2A93B"/>
                </a:solidFill>
                <a:latin typeface="Arial"/>
                <a:ea typeface="Arial"/>
                <a:cs typeface="Arial"/>
                <a:sym typeface="Arial"/>
              </a:rPr>
              <a:t>1.96% → 90.7%</a:t>
            </a:r>
            <a:endParaRPr sz="1900">
              <a:solidFill>
                <a:schemeClr val="dk1"/>
              </a:solidFill>
              <a:latin typeface="Calibri"/>
              <a:ea typeface="Calibri"/>
              <a:cs typeface="Calibri"/>
              <a:sym typeface="Calibri"/>
            </a:endParaRPr>
          </a:p>
        </p:txBody>
      </p:sp>
      <p:sp>
        <p:nvSpPr>
          <p:cNvPr id="115" name="Google Shape;115;p4"/>
          <p:cNvSpPr/>
          <p:nvPr/>
        </p:nvSpPr>
        <p:spPr>
          <a:xfrm>
            <a:off x="2651760" y="2148840"/>
            <a:ext cx="1737360" cy="502920"/>
          </a:xfrm>
          <a:prstGeom prst="rect">
            <a:avLst/>
          </a:prstGeom>
          <a:noFill/>
          <a:ln>
            <a:noFill/>
          </a:ln>
        </p:spPr>
        <p:txBody>
          <a:bodyPr anchorCtr="0" anchor="t" bIns="0" lIns="0" spcFirstLastPara="1" rIns="0" wrap="square" tIns="0">
            <a:noAutofit/>
          </a:bodyPr>
          <a:lstStyle/>
          <a:p>
            <a:pPr indent="0" lvl="0" marL="0" marR="0" rtl="0" algn="ctr">
              <a:lnSpc>
                <a:spcPct val="95000"/>
              </a:lnSpc>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Product Classification</a:t>
            </a:r>
            <a:endParaRPr sz="1050">
              <a:solidFill>
                <a:schemeClr val="dk1"/>
              </a:solidFill>
              <a:latin typeface="Calibri"/>
              <a:ea typeface="Calibri"/>
              <a:cs typeface="Calibri"/>
              <a:sym typeface="Calibri"/>
            </a:endParaRPr>
          </a:p>
          <a:p>
            <a:pPr indent="0" lvl="0" marL="0" marR="0" rtl="0" algn="ctr">
              <a:lnSpc>
                <a:spcPct val="95000"/>
              </a:lnSpc>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F1 Score</a:t>
            </a:r>
            <a:endParaRPr sz="1050">
              <a:solidFill>
                <a:schemeClr val="dk1"/>
              </a:solidFill>
              <a:latin typeface="Calibri"/>
              <a:ea typeface="Calibri"/>
              <a:cs typeface="Calibri"/>
              <a:sym typeface="Calibri"/>
            </a:endParaRPr>
          </a:p>
        </p:txBody>
      </p:sp>
      <p:sp>
        <p:nvSpPr>
          <p:cNvPr id="116" name="Google Shape;116;p4"/>
          <p:cNvSpPr/>
          <p:nvPr/>
        </p:nvSpPr>
        <p:spPr>
          <a:xfrm>
            <a:off x="4663440" y="1371600"/>
            <a:ext cx="1920240" cy="1371600"/>
          </a:xfrm>
          <a:prstGeom prst="roundRect">
            <a:avLst>
              <a:gd fmla="val 4667"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4754880" y="1536192"/>
            <a:ext cx="1737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2600"/>
              <a:buFont typeface="Arial"/>
              <a:buNone/>
            </a:pPr>
            <a:r>
              <a:rPr b="1" lang="en-US" sz="2600">
                <a:solidFill>
                  <a:srgbClr val="F2A93B"/>
                </a:solidFill>
                <a:latin typeface="Arial"/>
                <a:ea typeface="Arial"/>
                <a:cs typeface="Arial"/>
                <a:sym typeface="Arial"/>
              </a:rPr>
              <a:t>~45 min</a:t>
            </a:r>
            <a:endParaRPr sz="2600">
              <a:solidFill>
                <a:schemeClr val="dk1"/>
              </a:solidFill>
              <a:latin typeface="Calibri"/>
              <a:ea typeface="Calibri"/>
              <a:cs typeface="Calibri"/>
              <a:sym typeface="Calibri"/>
            </a:endParaRPr>
          </a:p>
        </p:txBody>
      </p:sp>
      <p:sp>
        <p:nvSpPr>
          <p:cNvPr id="118" name="Google Shape;118;p4"/>
          <p:cNvSpPr/>
          <p:nvPr/>
        </p:nvSpPr>
        <p:spPr>
          <a:xfrm>
            <a:off x="4754880" y="2148840"/>
            <a:ext cx="1737360" cy="502920"/>
          </a:xfrm>
          <a:prstGeom prst="rect">
            <a:avLst/>
          </a:prstGeom>
          <a:noFill/>
          <a:ln>
            <a:noFill/>
          </a:ln>
        </p:spPr>
        <p:txBody>
          <a:bodyPr anchorCtr="0" anchor="t" bIns="0" lIns="0" spcFirstLastPara="1" rIns="0" wrap="square" tIns="0">
            <a:noAutofit/>
          </a:bodyPr>
          <a:lstStyle/>
          <a:p>
            <a:pPr indent="0" lvl="0" marL="0" marR="0" rtl="0" algn="ctr">
              <a:lnSpc>
                <a:spcPct val="95000"/>
              </a:lnSpc>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Fine-Tuning Time on</a:t>
            </a:r>
            <a:endParaRPr sz="1050">
              <a:solidFill>
                <a:schemeClr val="dk1"/>
              </a:solidFill>
              <a:latin typeface="Calibri"/>
              <a:ea typeface="Calibri"/>
              <a:cs typeface="Calibri"/>
              <a:sym typeface="Calibri"/>
            </a:endParaRPr>
          </a:p>
          <a:p>
            <a:pPr indent="0" lvl="0" marL="0" marR="0" rtl="0" algn="ctr">
              <a:lnSpc>
                <a:spcPct val="95000"/>
              </a:lnSpc>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AMD Instinct MI300X</a:t>
            </a:r>
            <a:endParaRPr sz="1050">
              <a:solidFill>
                <a:schemeClr val="dk1"/>
              </a:solidFill>
              <a:latin typeface="Calibri"/>
              <a:ea typeface="Calibri"/>
              <a:cs typeface="Calibri"/>
              <a:sym typeface="Calibri"/>
            </a:endParaRPr>
          </a:p>
        </p:txBody>
      </p:sp>
      <p:sp>
        <p:nvSpPr>
          <p:cNvPr id="119" name="Google Shape;119;p4"/>
          <p:cNvSpPr/>
          <p:nvPr/>
        </p:nvSpPr>
        <p:spPr>
          <a:xfrm>
            <a:off x="6766560" y="1371600"/>
            <a:ext cx="1920240" cy="1371600"/>
          </a:xfrm>
          <a:prstGeom prst="roundRect">
            <a:avLst>
              <a:gd fmla="val 4667"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6858000" y="1536192"/>
            <a:ext cx="1737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2600"/>
              <a:buFont typeface="Arial"/>
              <a:buNone/>
            </a:pPr>
            <a:r>
              <a:rPr b="1" lang="en-US" sz="2600">
                <a:solidFill>
                  <a:srgbClr val="F2A93B"/>
                </a:solidFill>
                <a:latin typeface="Arial"/>
                <a:ea typeface="Arial"/>
                <a:cs typeface="Arial"/>
                <a:sym typeface="Arial"/>
              </a:rPr>
              <a:t>~50 MB</a:t>
            </a:r>
            <a:endParaRPr sz="2600">
              <a:solidFill>
                <a:schemeClr val="dk1"/>
              </a:solidFill>
              <a:latin typeface="Calibri"/>
              <a:ea typeface="Calibri"/>
              <a:cs typeface="Calibri"/>
              <a:sym typeface="Calibri"/>
            </a:endParaRPr>
          </a:p>
        </p:txBody>
      </p:sp>
      <p:sp>
        <p:nvSpPr>
          <p:cNvPr id="121" name="Google Shape;121;p4"/>
          <p:cNvSpPr/>
          <p:nvPr/>
        </p:nvSpPr>
        <p:spPr>
          <a:xfrm>
            <a:off x="6858000" y="2148840"/>
            <a:ext cx="1737360" cy="502920"/>
          </a:xfrm>
          <a:prstGeom prst="rect">
            <a:avLst/>
          </a:prstGeom>
          <a:noFill/>
          <a:ln>
            <a:noFill/>
          </a:ln>
        </p:spPr>
        <p:txBody>
          <a:bodyPr anchorCtr="0" anchor="t" bIns="0" lIns="0" spcFirstLastPara="1" rIns="0" wrap="square" tIns="0">
            <a:noAutofit/>
          </a:bodyPr>
          <a:lstStyle/>
          <a:p>
            <a:pPr indent="0" lvl="0" marL="0" marR="0" rtl="0" algn="ctr">
              <a:lnSpc>
                <a:spcPct val="95000"/>
              </a:lnSpc>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Inference Overhead </a:t>
            </a:r>
            <a:endParaRPr sz="1050">
              <a:solidFill>
                <a:schemeClr val="dk1"/>
              </a:solidFill>
              <a:latin typeface="Calibri"/>
              <a:ea typeface="Calibri"/>
              <a:cs typeface="Calibri"/>
              <a:sym typeface="Calibri"/>
            </a:endParaRPr>
          </a:p>
          <a:p>
            <a:pPr indent="0" lvl="0" marL="0" marR="0" rtl="0" algn="ctr">
              <a:lnSpc>
                <a:spcPct val="95000"/>
              </a:lnSpc>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LoRA Adapter Only</a:t>
            </a:r>
            <a:endParaRPr sz="1050">
              <a:solidFill>
                <a:schemeClr val="dk1"/>
              </a:solidFill>
              <a:latin typeface="Calibri"/>
              <a:ea typeface="Calibri"/>
              <a:cs typeface="Calibri"/>
              <a:sym typeface="Calibri"/>
            </a:endParaRPr>
          </a:p>
        </p:txBody>
      </p:sp>
      <p:sp>
        <p:nvSpPr>
          <p:cNvPr id="122" name="Google Shape;122;p4"/>
          <p:cNvSpPr/>
          <p:nvPr/>
        </p:nvSpPr>
        <p:spPr>
          <a:xfrm>
            <a:off x="457200" y="2926080"/>
            <a:ext cx="5212080" cy="1965960"/>
          </a:xfrm>
          <a:prstGeom prst="roundRect">
            <a:avLst>
              <a:gd fmla="val 3256"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685800" y="303580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100"/>
              <a:buFont typeface="Calibri"/>
              <a:buNone/>
            </a:pPr>
            <a:r>
              <a:rPr b="1" lang="en-US" sz="1100">
                <a:solidFill>
                  <a:srgbClr val="0E7AA8"/>
                </a:solidFill>
                <a:latin typeface="Calibri"/>
                <a:ea typeface="Calibri"/>
                <a:cs typeface="Calibri"/>
                <a:sym typeface="Calibri"/>
              </a:rPr>
              <a:t>ROUGE-L: BASE vs FINE-TUNED</a:t>
            </a:r>
            <a:endParaRPr sz="1100">
              <a:solidFill>
                <a:schemeClr val="dk1"/>
              </a:solidFill>
              <a:latin typeface="Calibri"/>
              <a:ea typeface="Calibri"/>
              <a:cs typeface="Calibri"/>
              <a:sym typeface="Calibri"/>
            </a:endParaRPr>
          </a:p>
        </p:txBody>
      </p:sp>
      <p:sp>
        <p:nvSpPr>
          <p:cNvPr id="124" name="Google Shape;124;p4"/>
          <p:cNvSpPr/>
          <p:nvPr/>
        </p:nvSpPr>
        <p:spPr>
          <a:xfrm>
            <a:off x="5852160" y="2926080"/>
            <a:ext cx="2834640" cy="1965960"/>
          </a:xfrm>
          <a:prstGeom prst="roundRect">
            <a:avLst>
              <a:gd fmla="val 3256" name="adj"/>
            </a:avLst>
          </a:prstGeom>
          <a:solidFill>
            <a:srgbClr val="FFFFFF"/>
          </a:solidFill>
          <a:ln>
            <a:noFill/>
          </a:ln>
          <a:effectLst>
            <a:outerShdw blurRad="88900" rotWithShape="0" algn="bl" dir="8100000" dist="25400">
              <a:srgbClr val="0E1B2E">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6080760" y="2953258"/>
            <a:ext cx="2423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AA8"/>
              </a:buClr>
              <a:buSzPts val="1100"/>
              <a:buFont typeface="Calibri"/>
              <a:buNone/>
            </a:pPr>
            <a:r>
              <a:rPr b="1" lang="en-US" sz="1100">
                <a:solidFill>
                  <a:srgbClr val="0E7AA8"/>
                </a:solidFill>
                <a:latin typeface="Calibri"/>
                <a:ea typeface="Calibri"/>
                <a:cs typeface="Calibri"/>
                <a:sym typeface="Calibri"/>
              </a:rPr>
              <a:t>MODEL &amp; DATA</a:t>
            </a:r>
            <a:endParaRPr sz="1100">
              <a:solidFill>
                <a:schemeClr val="dk1"/>
              </a:solidFill>
              <a:latin typeface="Calibri"/>
              <a:ea typeface="Calibri"/>
              <a:cs typeface="Calibri"/>
              <a:sym typeface="Calibri"/>
            </a:endParaRPr>
          </a:p>
        </p:txBody>
      </p:sp>
      <p:sp>
        <p:nvSpPr>
          <p:cNvPr id="126" name="Google Shape;126;p4"/>
          <p:cNvSpPr/>
          <p:nvPr/>
        </p:nvSpPr>
        <p:spPr>
          <a:xfrm>
            <a:off x="6002875" y="3210550"/>
            <a:ext cx="2663100" cy="1463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E293B"/>
              </a:buClr>
              <a:buSzPts val="1000"/>
              <a:buFont typeface="Calibri"/>
              <a:buChar char="•"/>
            </a:pPr>
            <a:r>
              <a:rPr b="1" lang="en-US" sz="1000">
                <a:solidFill>
                  <a:srgbClr val="1E293B"/>
                </a:solidFill>
                <a:latin typeface="Calibri"/>
                <a:ea typeface="Calibri"/>
                <a:cs typeface="Calibri"/>
                <a:sym typeface="Calibri"/>
              </a:rPr>
              <a:t>Base: Qwen2.5-7B-Instruct | </a:t>
            </a:r>
            <a:r>
              <a:rPr b="1" lang="en-US" sz="1000" u="sng">
                <a:solidFill>
                  <a:schemeClr val="hlink"/>
                </a:solidFill>
                <a:latin typeface="Calibri"/>
                <a:ea typeface="Calibri"/>
                <a:cs typeface="Calibri"/>
                <a:sym typeface="Calibri"/>
                <a:hlinkClick r:id="rId3"/>
              </a:rPr>
              <a:t>Link</a:t>
            </a:r>
            <a:endParaRPr b="1" sz="1000">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1E293B"/>
              </a:buClr>
              <a:buSzPts val="1000"/>
              <a:buFont typeface="Calibri"/>
              <a:buChar char="•"/>
            </a:pPr>
            <a:r>
              <a:rPr b="1" lang="en-US" sz="1000">
                <a:solidFill>
                  <a:srgbClr val="1E293B"/>
                </a:solidFill>
                <a:latin typeface="Calibri"/>
                <a:ea typeface="Calibri"/>
                <a:cs typeface="Calibri"/>
                <a:sym typeface="Calibri"/>
              </a:rPr>
              <a:t>Fine-Tune: QLoRA (rank 16, alpha 32) | </a:t>
            </a:r>
            <a:r>
              <a:rPr b="1" lang="en-US" sz="1000" u="sng">
                <a:solidFill>
                  <a:schemeClr val="hlink"/>
                </a:solidFill>
                <a:latin typeface="Calibri"/>
                <a:ea typeface="Calibri"/>
                <a:cs typeface="Calibri"/>
                <a:sym typeface="Calibri"/>
                <a:hlinkClick r:id="rId4"/>
              </a:rPr>
              <a:t>Link</a:t>
            </a:r>
            <a:endParaRPr b="1" sz="1000">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1E293B"/>
              </a:buClr>
              <a:buSzPts val="1000"/>
              <a:buFont typeface="Calibri"/>
              <a:buChar char="•"/>
            </a:pPr>
            <a:r>
              <a:rPr b="1" lang="en-US" sz="1000">
                <a:solidFill>
                  <a:srgbClr val="1E293B"/>
                </a:solidFill>
                <a:latin typeface="Calibri"/>
                <a:ea typeface="Calibri"/>
                <a:cs typeface="Calibri"/>
                <a:sym typeface="Calibri"/>
              </a:rPr>
              <a:t>Dataset: CFPB Consumer Complaint DB - 5 products, stratified by Product × Issue| </a:t>
            </a:r>
            <a:r>
              <a:rPr b="1" lang="en-US" sz="1000" u="sng">
                <a:solidFill>
                  <a:schemeClr val="hlink"/>
                </a:solidFill>
                <a:latin typeface="Calibri"/>
                <a:ea typeface="Calibri"/>
                <a:cs typeface="Calibri"/>
                <a:sym typeface="Calibri"/>
                <a:hlinkClick r:id="rId5"/>
              </a:rPr>
              <a:t>Link</a:t>
            </a:r>
            <a:endParaRPr b="1" sz="1000">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1E293B"/>
              </a:buClr>
              <a:buSzPts val="1000"/>
              <a:buFont typeface="Calibri"/>
              <a:buChar char="•"/>
            </a:pPr>
            <a:r>
              <a:rPr b="1" lang="en-US" sz="1000">
                <a:solidFill>
                  <a:srgbClr val="1E293B"/>
                </a:solidFill>
                <a:latin typeface="Calibri"/>
                <a:ea typeface="Calibri"/>
                <a:cs typeface="Calibri"/>
                <a:sym typeface="Calibri"/>
              </a:rPr>
              <a:t>Latency : 6765.3 ms for processing ~ 420 Tokens</a:t>
            </a:r>
            <a:endParaRPr b="1" sz="1000">
              <a:solidFill>
                <a:srgbClr val="1E293B"/>
              </a:solidFill>
              <a:latin typeface="Calibri"/>
              <a:ea typeface="Calibri"/>
              <a:cs typeface="Calibri"/>
              <a:sym typeface="Calibri"/>
            </a:endParaRPr>
          </a:p>
          <a:p>
            <a:pPr indent="-342900" lvl="0" marL="342900" marR="0" rtl="0" algn="l">
              <a:spcBef>
                <a:spcPts val="400"/>
              </a:spcBef>
              <a:spcAft>
                <a:spcPts val="0"/>
              </a:spcAft>
              <a:buClr>
                <a:srgbClr val="1E293B"/>
              </a:buClr>
              <a:buSzPts val="1000"/>
              <a:buFont typeface="Calibri"/>
              <a:buChar char="•"/>
            </a:pPr>
            <a:r>
              <a:rPr b="1" lang="en-US" sz="1000">
                <a:solidFill>
                  <a:srgbClr val="1E293B"/>
                </a:solidFill>
                <a:latin typeface="Calibri"/>
                <a:ea typeface="Calibri"/>
                <a:cs typeface="Calibri"/>
                <a:sym typeface="Calibri"/>
              </a:rPr>
              <a:t>Maximum number of Input tokens  : 1024</a:t>
            </a:r>
            <a:endParaRPr/>
          </a:p>
          <a:p>
            <a:pPr indent="-342900" lvl="0" marL="342900" marR="0" rtl="0" algn="l">
              <a:lnSpc>
                <a:spcPct val="100000"/>
              </a:lnSpc>
              <a:spcBef>
                <a:spcPts val="400"/>
              </a:spcBef>
              <a:spcAft>
                <a:spcPts val="0"/>
              </a:spcAft>
              <a:buClr>
                <a:srgbClr val="1E293B"/>
              </a:buClr>
              <a:buSzPts val="1000"/>
              <a:buFont typeface="Calibri"/>
              <a:buChar char="•"/>
            </a:pPr>
            <a:r>
              <a:rPr b="1" lang="en-US" sz="1000">
                <a:solidFill>
                  <a:srgbClr val="1E293B"/>
                </a:solidFill>
                <a:latin typeface="Calibri"/>
                <a:ea typeface="Calibri"/>
                <a:cs typeface="Calibri"/>
                <a:sym typeface="Calibri"/>
              </a:rPr>
              <a:t>GPU Usage (Including memory) : 16.24 GB</a:t>
            </a:r>
            <a:endParaRPr b="1" sz="1000">
              <a:solidFill>
                <a:schemeClr val="dk1"/>
              </a:solidFill>
              <a:latin typeface="Calibri"/>
              <a:ea typeface="Calibri"/>
              <a:cs typeface="Calibri"/>
              <a:sym typeface="Calibri"/>
            </a:endParaRPr>
          </a:p>
        </p:txBody>
      </p:sp>
      <p:pic>
        <p:nvPicPr>
          <p:cNvPr id="127" name="Google Shape;127;p4"/>
          <p:cNvPicPr preferRelativeResize="0"/>
          <p:nvPr/>
        </p:nvPicPr>
        <p:blipFill rotWithShape="1">
          <a:blip r:embed="rId6">
            <a:alphaModFix/>
          </a:blip>
          <a:srcRect b="0" l="0" r="0" t="0"/>
          <a:stretch/>
        </p:blipFill>
        <p:spPr>
          <a:xfrm>
            <a:off x="654450" y="2926080"/>
            <a:ext cx="4602164" cy="19659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E"/>
        </a:solidFill>
      </p:bgPr>
    </p:bg>
    <p:spTree>
      <p:nvGrpSpPr>
        <p:cNvPr id="132" name="Shape 132"/>
        <p:cNvGrpSpPr/>
        <p:nvPr/>
      </p:nvGrpSpPr>
      <p:grpSpPr>
        <a:xfrm>
          <a:off x="0" y="0"/>
          <a:ext cx="0" cy="0"/>
          <a:chOff x="0" y="0"/>
          <a:chExt cx="0" cy="0"/>
        </a:xfrm>
      </p:grpSpPr>
      <p:sp>
        <p:nvSpPr>
          <p:cNvPr id="133" name="Google Shape;133;p5"/>
          <p:cNvSpPr/>
          <p:nvPr/>
        </p:nvSpPr>
        <p:spPr>
          <a:xfrm>
            <a:off x="457200" y="3200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200"/>
              <a:buFont typeface="Calibri"/>
              <a:buNone/>
            </a:pPr>
            <a:r>
              <a:rPr b="1" lang="en-US" sz="1200">
                <a:solidFill>
                  <a:srgbClr val="F2A93B"/>
                </a:solidFill>
                <a:latin typeface="Calibri"/>
                <a:ea typeface="Calibri"/>
                <a:cs typeface="Calibri"/>
                <a:sym typeface="Calibri"/>
              </a:rPr>
              <a:t>INNOVATION,  DEMO  &amp;  WHAT'S  NEXT</a:t>
            </a:r>
            <a:endParaRPr sz="1200">
              <a:solidFill>
                <a:schemeClr val="dk1"/>
              </a:solidFill>
              <a:latin typeface="Calibri"/>
              <a:ea typeface="Calibri"/>
              <a:cs typeface="Calibri"/>
              <a:sym typeface="Calibri"/>
            </a:endParaRPr>
          </a:p>
        </p:txBody>
      </p:sp>
      <p:sp>
        <p:nvSpPr>
          <p:cNvPr id="134" name="Google Shape;134;p5"/>
          <p:cNvSpPr/>
          <p:nvPr/>
        </p:nvSpPr>
        <p:spPr>
          <a:xfrm>
            <a:off x="457200" y="5943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Built to Plug Straight Into Operations</a:t>
            </a:r>
            <a:endParaRPr sz="2600">
              <a:solidFill>
                <a:schemeClr val="dk1"/>
              </a:solidFill>
              <a:latin typeface="Calibri"/>
              <a:ea typeface="Calibri"/>
              <a:cs typeface="Calibri"/>
              <a:sym typeface="Calibri"/>
            </a:endParaRPr>
          </a:p>
        </p:txBody>
      </p:sp>
      <p:sp>
        <p:nvSpPr>
          <p:cNvPr id="135" name="Google Shape;135;p5"/>
          <p:cNvSpPr/>
          <p:nvPr/>
        </p:nvSpPr>
        <p:spPr>
          <a:xfrm>
            <a:off x="457200" y="1417320"/>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100"/>
              <a:buFont typeface="Calibri"/>
              <a:buNone/>
            </a:pPr>
            <a:r>
              <a:rPr b="1" lang="en-US" sz="1100">
                <a:solidFill>
                  <a:srgbClr val="F2A93B"/>
                </a:solidFill>
                <a:latin typeface="Calibri"/>
                <a:ea typeface="Calibri"/>
                <a:cs typeface="Calibri"/>
                <a:sym typeface="Calibri"/>
              </a:rPr>
              <a:t>KEY INNOVATIONS</a:t>
            </a:r>
            <a:endParaRPr sz="1100">
              <a:solidFill>
                <a:schemeClr val="dk1"/>
              </a:solidFill>
              <a:latin typeface="Calibri"/>
              <a:ea typeface="Calibri"/>
              <a:cs typeface="Calibri"/>
              <a:sym typeface="Calibri"/>
            </a:endParaRPr>
          </a:p>
        </p:txBody>
      </p:sp>
      <p:sp>
        <p:nvSpPr>
          <p:cNvPr id="136" name="Google Shape;136;p5"/>
          <p:cNvSpPr/>
          <p:nvPr/>
        </p:nvSpPr>
        <p:spPr>
          <a:xfrm>
            <a:off x="457200" y="1828800"/>
            <a:ext cx="365760" cy="36576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7" name="Google Shape;137;p5"/>
          <p:cNvPicPr preferRelativeResize="0"/>
          <p:nvPr/>
        </p:nvPicPr>
        <p:blipFill rotWithShape="1">
          <a:blip r:embed="rId3">
            <a:alphaModFix/>
          </a:blip>
          <a:srcRect b="0" l="0" r="0" t="0"/>
          <a:stretch/>
        </p:blipFill>
        <p:spPr>
          <a:xfrm>
            <a:off x="555955" y="1927555"/>
            <a:ext cx="168250" cy="168250"/>
          </a:xfrm>
          <a:prstGeom prst="rect">
            <a:avLst/>
          </a:prstGeom>
          <a:noFill/>
          <a:ln>
            <a:noFill/>
          </a:ln>
        </p:spPr>
      </p:pic>
      <p:sp>
        <p:nvSpPr>
          <p:cNvPr id="138" name="Google Shape;138;p5"/>
          <p:cNvSpPr/>
          <p:nvPr/>
        </p:nvSpPr>
        <p:spPr>
          <a:xfrm>
            <a:off x="914400" y="1792224"/>
            <a:ext cx="219456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7D6E6"/>
              </a:buClr>
              <a:buSzPts val="950"/>
              <a:buFont typeface="Calibri"/>
              <a:buNone/>
            </a:pPr>
            <a:r>
              <a:rPr lang="en-US" sz="950">
                <a:solidFill>
                  <a:srgbClr val="C7D6E6"/>
                </a:solidFill>
                <a:latin typeface="Calibri"/>
                <a:ea typeface="Calibri"/>
                <a:cs typeface="Calibri"/>
                <a:sym typeface="Calibri"/>
              </a:rPr>
              <a:t>Taxonomy-Aware Fine-Tuning - 80+ CFPB issue labels learned as a portable LoRA adapter</a:t>
            </a:r>
            <a:endParaRPr sz="950">
              <a:solidFill>
                <a:schemeClr val="dk1"/>
              </a:solidFill>
              <a:latin typeface="Calibri"/>
              <a:ea typeface="Calibri"/>
              <a:cs typeface="Calibri"/>
              <a:sym typeface="Calibri"/>
            </a:endParaRPr>
          </a:p>
        </p:txBody>
      </p:sp>
      <p:sp>
        <p:nvSpPr>
          <p:cNvPr id="139" name="Google Shape;139;p5"/>
          <p:cNvSpPr/>
          <p:nvPr/>
        </p:nvSpPr>
        <p:spPr>
          <a:xfrm>
            <a:off x="457200" y="2670048"/>
            <a:ext cx="365760" cy="36576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0" name="Google Shape;140;p5"/>
          <p:cNvPicPr preferRelativeResize="0"/>
          <p:nvPr/>
        </p:nvPicPr>
        <p:blipFill rotWithShape="1">
          <a:blip r:embed="rId4">
            <a:alphaModFix/>
          </a:blip>
          <a:srcRect b="0" l="0" r="0" t="0"/>
          <a:stretch/>
        </p:blipFill>
        <p:spPr>
          <a:xfrm>
            <a:off x="555955" y="2768803"/>
            <a:ext cx="168250" cy="168250"/>
          </a:xfrm>
          <a:prstGeom prst="rect">
            <a:avLst/>
          </a:prstGeom>
          <a:noFill/>
          <a:ln>
            <a:noFill/>
          </a:ln>
        </p:spPr>
      </p:pic>
      <p:sp>
        <p:nvSpPr>
          <p:cNvPr id="141" name="Google Shape;141;p5"/>
          <p:cNvSpPr/>
          <p:nvPr/>
        </p:nvSpPr>
        <p:spPr>
          <a:xfrm>
            <a:off x="914400" y="2633472"/>
            <a:ext cx="219456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7D6E6"/>
              </a:buClr>
              <a:buSzPts val="950"/>
              <a:buFont typeface="Calibri"/>
              <a:buNone/>
            </a:pPr>
            <a:r>
              <a:rPr lang="en-US" sz="950">
                <a:solidFill>
                  <a:srgbClr val="C7D6E6"/>
                </a:solidFill>
                <a:latin typeface="Calibri"/>
                <a:ea typeface="Calibri"/>
                <a:cs typeface="Calibri"/>
                <a:sym typeface="Calibri"/>
              </a:rPr>
              <a:t>TF-IDF Constrained Decoding - snaps outputs to canonical labels, no hallucinated categories</a:t>
            </a:r>
            <a:endParaRPr sz="950">
              <a:solidFill>
                <a:schemeClr val="dk1"/>
              </a:solidFill>
              <a:latin typeface="Calibri"/>
              <a:ea typeface="Calibri"/>
              <a:cs typeface="Calibri"/>
              <a:sym typeface="Calibri"/>
            </a:endParaRPr>
          </a:p>
        </p:txBody>
      </p:sp>
      <p:sp>
        <p:nvSpPr>
          <p:cNvPr id="142" name="Google Shape;142;p5"/>
          <p:cNvSpPr/>
          <p:nvPr/>
        </p:nvSpPr>
        <p:spPr>
          <a:xfrm>
            <a:off x="457200" y="3511296"/>
            <a:ext cx="365760" cy="36576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3" name="Google Shape;143;p5"/>
          <p:cNvPicPr preferRelativeResize="0"/>
          <p:nvPr/>
        </p:nvPicPr>
        <p:blipFill rotWithShape="1">
          <a:blip r:embed="rId5">
            <a:alphaModFix/>
          </a:blip>
          <a:srcRect b="0" l="0" r="0" t="0"/>
          <a:stretch/>
        </p:blipFill>
        <p:spPr>
          <a:xfrm>
            <a:off x="555955" y="3610051"/>
            <a:ext cx="168250" cy="168250"/>
          </a:xfrm>
          <a:prstGeom prst="rect">
            <a:avLst/>
          </a:prstGeom>
          <a:noFill/>
          <a:ln>
            <a:noFill/>
          </a:ln>
        </p:spPr>
      </p:pic>
      <p:sp>
        <p:nvSpPr>
          <p:cNvPr id="144" name="Google Shape;144;p5"/>
          <p:cNvSpPr/>
          <p:nvPr/>
        </p:nvSpPr>
        <p:spPr>
          <a:xfrm>
            <a:off x="914400" y="3474720"/>
            <a:ext cx="219456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7D6E6"/>
              </a:buClr>
              <a:buSzPts val="950"/>
              <a:buFont typeface="Calibri"/>
              <a:buNone/>
            </a:pPr>
            <a:r>
              <a:rPr lang="en-US" sz="950">
                <a:solidFill>
                  <a:srgbClr val="C7D6E6"/>
                </a:solidFill>
                <a:latin typeface="Calibri"/>
                <a:ea typeface="Calibri"/>
                <a:cs typeface="Calibri"/>
                <a:sym typeface="Calibri"/>
              </a:rPr>
              <a:t>Single-Call Extraction - one inference returns all 4 ticket fields at once</a:t>
            </a:r>
            <a:endParaRPr sz="950">
              <a:solidFill>
                <a:schemeClr val="dk1"/>
              </a:solidFill>
              <a:latin typeface="Calibri"/>
              <a:ea typeface="Calibri"/>
              <a:cs typeface="Calibri"/>
              <a:sym typeface="Calibri"/>
            </a:endParaRPr>
          </a:p>
        </p:txBody>
      </p:sp>
      <p:sp>
        <p:nvSpPr>
          <p:cNvPr id="145" name="Google Shape;145;p5"/>
          <p:cNvSpPr/>
          <p:nvPr/>
        </p:nvSpPr>
        <p:spPr>
          <a:xfrm>
            <a:off x="3246120" y="1417320"/>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100"/>
              <a:buFont typeface="Calibri"/>
              <a:buNone/>
            </a:pPr>
            <a:r>
              <a:rPr b="1" lang="en-US" sz="1100">
                <a:solidFill>
                  <a:srgbClr val="F2A93B"/>
                </a:solidFill>
                <a:latin typeface="Calibri"/>
                <a:ea typeface="Calibri"/>
                <a:cs typeface="Calibri"/>
                <a:sym typeface="Calibri"/>
              </a:rPr>
              <a:t>DEMO FLOW</a:t>
            </a:r>
            <a:endParaRPr sz="1100">
              <a:solidFill>
                <a:schemeClr val="dk1"/>
              </a:solidFill>
              <a:latin typeface="Calibri"/>
              <a:ea typeface="Calibri"/>
              <a:cs typeface="Calibri"/>
              <a:sym typeface="Calibri"/>
            </a:endParaRPr>
          </a:p>
        </p:txBody>
      </p:sp>
      <p:sp>
        <p:nvSpPr>
          <p:cNvPr id="146" name="Google Shape;146;p5"/>
          <p:cNvSpPr/>
          <p:nvPr/>
        </p:nvSpPr>
        <p:spPr>
          <a:xfrm>
            <a:off x="3246120" y="1828800"/>
            <a:ext cx="310896" cy="310896"/>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3246120" y="182880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1200"/>
              <a:buFont typeface="Calibri"/>
              <a:buNone/>
            </a:pPr>
            <a:r>
              <a:rPr b="1" lang="en-US" sz="1200">
                <a:solidFill>
                  <a:srgbClr val="0E1B2E"/>
                </a:solidFill>
                <a:latin typeface="Calibri"/>
                <a:ea typeface="Calibri"/>
                <a:cs typeface="Calibri"/>
                <a:sym typeface="Calibri"/>
              </a:rPr>
              <a:t>1</a:t>
            </a:r>
            <a:endParaRPr sz="1200">
              <a:solidFill>
                <a:schemeClr val="dk1"/>
              </a:solidFill>
              <a:latin typeface="Calibri"/>
              <a:ea typeface="Calibri"/>
              <a:cs typeface="Calibri"/>
              <a:sym typeface="Calibri"/>
            </a:endParaRPr>
          </a:p>
        </p:txBody>
      </p:sp>
      <p:sp>
        <p:nvSpPr>
          <p:cNvPr id="148" name="Google Shape;148;p5"/>
          <p:cNvSpPr/>
          <p:nvPr/>
        </p:nvSpPr>
        <p:spPr>
          <a:xfrm>
            <a:off x="3666744" y="1783080"/>
            <a:ext cx="2231136"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7D6E6"/>
              </a:buClr>
              <a:buSzPts val="950"/>
              <a:buFont typeface="Calibri"/>
              <a:buNone/>
            </a:pPr>
            <a:r>
              <a:rPr lang="en-US" sz="950">
                <a:solidFill>
                  <a:srgbClr val="C7D6E6"/>
                </a:solidFill>
                <a:latin typeface="Calibri"/>
                <a:ea typeface="Calibri"/>
                <a:cs typeface="Calibri"/>
                <a:sym typeface="Calibri"/>
              </a:rPr>
              <a:t>Raw complaint narrative goes in – no proper product names or issues are identified.</a:t>
            </a:r>
            <a:endParaRPr sz="950">
              <a:solidFill>
                <a:schemeClr val="dk1"/>
              </a:solidFill>
              <a:latin typeface="Calibri"/>
              <a:ea typeface="Calibri"/>
              <a:cs typeface="Calibri"/>
              <a:sym typeface="Calibri"/>
            </a:endParaRPr>
          </a:p>
        </p:txBody>
      </p:sp>
      <p:sp>
        <p:nvSpPr>
          <p:cNvPr id="149" name="Google Shape;149;p5"/>
          <p:cNvSpPr/>
          <p:nvPr/>
        </p:nvSpPr>
        <p:spPr>
          <a:xfrm>
            <a:off x="3246120" y="2459736"/>
            <a:ext cx="310896" cy="310896"/>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3246120" y="24597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1200"/>
              <a:buFont typeface="Calibri"/>
              <a:buNone/>
            </a:pPr>
            <a:r>
              <a:rPr b="1" lang="en-US" sz="1200">
                <a:solidFill>
                  <a:srgbClr val="0E1B2E"/>
                </a:solidFill>
                <a:latin typeface="Calibri"/>
                <a:ea typeface="Calibri"/>
                <a:cs typeface="Calibri"/>
                <a:sym typeface="Calibri"/>
              </a:rPr>
              <a:t>2</a:t>
            </a:r>
            <a:endParaRPr sz="1200">
              <a:solidFill>
                <a:schemeClr val="dk1"/>
              </a:solidFill>
              <a:latin typeface="Calibri"/>
              <a:ea typeface="Calibri"/>
              <a:cs typeface="Calibri"/>
              <a:sym typeface="Calibri"/>
            </a:endParaRPr>
          </a:p>
        </p:txBody>
      </p:sp>
      <p:sp>
        <p:nvSpPr>
          <p:cNvPr id="151" name="Google Shape;151;p5"/>
          <p:cNvSpPr/>
          <p:nvPr/>
        </p:nvSpPr>
        <p:spPr>
          <a:xfrm>
            <a:off x="3666744" y="2414016"/>
            <a:ext cx="2231136"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7D6E6"/>
              </a:buClr>
              <a:buSzPts val="950"/>
              <a:buFont typeface="Calibri"/>
              <a:buNone/>
            </a:pPr>
            <a:r>
              <a:rPr lang="en-US" sz="950">
                <a:solidFill>
                  <a:srgbClr val="C7D6E6"/>
                </a:solidFill>
                <a:latin typeface="Calibri"/>
                <a:ea typeface="Calibri"/>
                <a:cs typeface="Calibri"/>
                <a:sym typeface="Calibri"/>
              </a:rPr>
              <a:t>Base model returns free-form text with wrong field names</a:t>
            </a:r>
            <a:endParaRPr sz="950">
              <a:solidFill>
                <a:schemeClr val="dk1"/>
              </a:solidFill>
              <a:latin typeface="Calibri"/>
              <a:ea typeface="Calibri"/>
              <a:cs typeface="Calibri"/>
              <a:sym typeface="Calibri"/>
            </a:endParaRPr>
          </a:p>
        </p:txBody>
      </p:sp>
      <p:sp>
        <p:nvSpPr>
          <p:cNvPr id="152" name="Google Shape;152;p5"/>
          <p:cNvSpPr/>
          <p:nvPr/>
        </p:nvSpPr>
        <p:spPr>
          <a:xfrm>
            <a:off x="3246120" y="3090672"/>
            <a:ext cx="310896" cy="310896"/>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3246120" y="30906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1200"/>
              <a:buFont typeface="Calibri"/>
              <a:buNone/>
            </a:pPr>
            <a:r>
              <a:rPr b="1" lang="en-US" sz="1200">
                <a:solidFill>
                  <a:srgbClr val="0E1B2E"/>
                </a:solidFill>
                <a:latin typeface="Calibri"/>
                <a:ea typeface="Calibri"/>
                <a:cs typeface="Calibri"/>
                <a:sym typeface="Calibri"/>
              </a:rPr>
              <a:t>3</a:t>
            </a:r>
            <a:endParaRPr sz="1200">
              <a:solidFill>
                <a:schemeClr val="dk1"/>
              </a:solidFill>
              <a:latin typeface="Calibri"/>
              <a:ea typeface="Calibri"/>
              <a:cs typeface="Calibri"/>
              <a:sym typeface="Calibri"/>
            </a:endParaRPr>
          </a:p>
        </p:txBody>
      </p:sp>
      <p:sp>
        <p:nvSpPr>
          <p:cNvPr id="154" name="Google Shape;154;p5"/>
          <p:cNvSpPr/>
          <p:nvPr/>
        </p:nvSpPr>
        <p:spPr>
          <a:xfrm>
            <a:off x="3666744" y="3044952"/>
            <a:ext cx="2231136"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7D6E6"/>
              </a:buClr>
              <a:buSzPts val="950"/>
              <a:buFont typeface="Calibri"/>
              <a:buNone/>
            </a:pPr>
            <a:r>
              <a:rPr lang="en-US" sz="950">
                <a:solidFill>
                  <a:srgbClr val="C7D6E6"/>
                </a:solidFill>
                <a:latin typeface="Calibri"/>
                <a:ea typeface="Calibri"/>
                <a:cs typeface="Calibri"/>
                <a:sym typeface="Calibri"/>
              </a:rPr>
              <a:t>Fine-tuned model returns clean, taxonomy-aligned JSON</a:t>
            </a:r>
            <a:endParaRPr sz="950">
              <a:solidFill>
                <a:schemeClr val="dk1"/>
              </a:solidFill>
              <a:latin typeface="Calibri"/>
              <a:ea typeface="Calibri"/>
              <a:cs typeface="Calibri"/>
              <a:sym typeface="Calibri"/>
            </a:endParaRPr>
          </a:p>
        </p:txBody>
      </p:sp>
      <p:sp>
        <p:nvSpPr>
          <p:cNvPr id="155" name="Google Shape;155;p5"/>
          <p:cNvSpPr/>
          <p:nvPr/>
        </p:nvSpPr>
        <p:spPr>
          <a:xfrm>
            <a:off x="3246120" y="3721608"/>
            <a:ext cx="310896" cy="310896"/>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3246120" y="372160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B2E"/>
              </a:buClr>
              <a:buSzPts val="1200"/>
              <a:buFont typeface="Calibri"/>
              <a:buNone/>
            </a:pPr>
            <a:r>
              <a:rPr b="1" lang="en-US" sz="1200">
                <a:solidFill>
                  <a:srgbClr val="0E1B2E"/>
                </a:solidFill>
                <a:latin typeface="Calibri"/>
                <a:ea typeface="Calibri"/>
                <a:cs typeface="Calibri"/>
                <a:sym typeface="Calibri"/>
              </a:rPr>
              <a:t>4</a:t>
            </a:r>
            <a:endParaRPr sz="1200">
              <a:solidFill>
                <a:schemeClr val="dk1"/>
              </a:solidFill>
              <a:latin typeface="Calibri"/>
              <a:ea typeface="Calibri"/>
              <a:cs typeface="Calibri"/>
              <a:sym typeface="Calibri"/>
            </a:endParaRPr>
          </a:p>
        </p:txBody>
      </p:sp>
      <p:sp>
        <p:nvSpPr>
          <p:cNvPr id="157" name="Google Shape;157;p5"/>
          <p:cNvSpPr/>
          <p:nvPr/>
        </p:nvSpPr>
        <p:spPr>
          <a:xfrm>
            <a:off x="3666744" y="3675888"/>
            <a:ext cx="2231136"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7D6E6"/>
              </a:buClr>
              <a:buSzPts val="950"/>
              <a:buFont typeface="Calibri"/>
              <a:buNone/>
            </a:pPr>
            <a:r>
              <a:rPr lang="en-US" sz="950">
                <a:solidFill>
                  <a:srgbClr val="C7D6E6"/>
                </a:solidFill>
                <a:latin typeface="Calibri"/>
                <a:ea typeface="Calibri"/>
                <a:cs typeface="Calibri"/>
                <a:sym typeface="Calibri"/>
              </a:rPr>
              <a:t>Side-by-side run shows near-identical latency &amp; memory</a:t>
            </a:r>
            <a:endParaRPr sz="950">
              <a:solidFill>
                <a:schemeClr val="dk1"/>
              </a:solidFill>
              <a:latin typeface="Calibri"/>
              <a:ea typeface="Calibri"/>
              <a:cs typeface="Calibri"/>
              <a:sym typeface="Calibri"/>
            </a:endParaRPr>
          </a:p>
        </p:txBody>
      </p:sp>
      <p:sp>
        <p:nvSpPr>
          <p:cNvPr id="158" name="Google Shape;158;p5"/>
          <p:cNvSpPr/>
          <p:nvPr/>
        </p:nvSpPr>
        <p:spPr>
          <a:xfrm>
            <a:off x="6035040" y="1417320"/>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100"/>
              <a:buFont typeface="Calibri"/>
              <a:buNone/>
            </a:pPr>
            <a:r>
              <a:rPr b="1" lang="en-US" sz="1100">
                <a:solidFill>
                  <a:srgbClr val="F2A93B"/>
                </a:solidFill>
                <a:latin typeface="Calibri"/>
                <a:ea typeface="Calibri"/>
                <a:cs typeface="Calibri"/>
                <a:sym typeface="Calibri"/>
              </a:rPr>
              <a:t>FUTURE ROADMAP</a:t>
            </a:r>
            <a:endParaRPr sz="1100">
              <a:solidFill>
                <a:schemeClr val="dk1"/>
              </a:solidFill>
              <a:latin typeface="Calibri"/>
              <a:ea typeface="Calibri"/>
              <a:cs typeface="Calibri"/>
              <a:sym typeface="Calibri"/>
            </a:endParaRPr>
          </a:p>
        </p:txBody>
      </p:sp>
      <p:sp>
        <p:nvSpPr>
          <p:cNvPr id="159" name="Google Shape;159;p5"/>
          <p:cNvSpPr/>
          <p:nvPr/>
        </p:nvSpPr>
        <p:spPr>
          <a:xfrm>
            <a:off x="6035040" y="1828800"/>
            <a:ext cx="365760" cy="36576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 name="Google Shape;160;p5"/>
          <p:cNvPicPr preferRelativeResize="0"/>
          <p:nvPr/>
        </p:nvPicPr>
        <p:blipFill rotWithShape="1">
          <a:blip r:embed="rId6">
            <a:alphaModFix/>
          </a:blip>
          <a:srcRect b="0" l="0" r="0" t="0"/>
          <a:stretch/>
        </p:blipFill>
        <p:spPr>
          <a:xfrm>
            <a:off x="6133795" y="1927555"/>
            <a:ext cx="168250" cy="168250"/>
          </a:xfrm>
          <a:prstGeom prst="rect">
            <a:avLst/>
          </a:prstGeom>
          <a:noFill/>
          <a:ln>
            <a:noFill/>
          </a:ln>
        </p:spPr>
      </p:pic>
      <p:sp>
        <p:nvSpPr>
          <p:cNvPr id="161" name="Google Shape;161;p5"/>
          <p:cNvSpPr/>
          <p:nvPr/>
        </p:nvSpPr>
        <p:spPr>
          <a:xfrm>
            <a:off x="6492240" y="1828800"/>
            <a:ext cx="2194560"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Routing &amp; Priority Engine</a:t>
            </a:r>
            <a:endParaRPr sz="1100">
              <a:solidFill>
                <a:schemeClr val="dk1"/>
              </a:solidFill>
              <a:latin typeface="Calibri"/>
              <a:ea typeface="Calibri"/>
              <a:cs typeface="Calibri"/>
              <a:sym typeface="Calibri"/>
            </a:endParaRPr>
          </a:p>
        </p:txBody>
      </p:sp>
      <p:sp>
        <p:nvSpPr>
          <p:cNvPr id="162" name="Google Shape;162;p5"/>
          <p:cNvSpPr/>
          <p:nvPr/>
        </p:nvSpPr>
        <p:spPr>
          <a:xfrm>
            <a:off x="6035040" y="2459736"/>
            <a:ext cx="365760" cy="36576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 name="Google Shape;163;p5"/>
          <p:cNvPicPr preferRelativeResize="0"/>
          <p:nvPr/>
        </p:nvPicPr>
        <p:blipFill rotWithShape="1">
          <a:blip r:embed="rId7">
            <a:alphaModFix/>
          </a:blip>
          <a:srcRect b="0" l="0" r="0" t="0"/>
          <a:stretch/>
        </p:blipFill>
        <p:spPr>
          <a:xfrm>
            <a:off x="6133795" y="2558491"/>
            <a:ext cx="168250" cy="168250"/>
          </a:xfrm>
          <a:prstGeom prst="rect">
            <a:avLst/>
          </a:prstGeom>
          <a:noFill/>
          <a:ln>
            <a:noFill/>
          </a:ln>
        </p:spPr>
      </p:pic>
      <p:sp>
        <p:nvSpPr>
          <p:cNvPr id="164" name="Google Shape;164;p5"/>
          <p:cNvSpPr/>
          <p:nvPr/>
        </p:nvSpPr>
        <p:spPr>
          <a:xfrm>
            <a:off x="6492240" y="2459736"/>
            <a:ext cx="2194560"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Voice-to-Complaint Workflows</a:t>
            </a:r>
            <a:endParaRPr sz="1100">
              <a:solidFill>
                <a:schemeClr val="dk1"/>
              </a:solidFill>
              <a:latin typeface="Calibri"/>
              <a:ea typeface="Calibri"/>
              <a:cs typeface="Calibri"/>
              <a:sym typeface="Calibri"/>
            </a:endParaRPr>
          </a:p>
        </p:txBody>
      </p:sp>
      <p:sp>
        <p:nvSpPr>
          <p:cNvPr id="165" name="Google Shape;165;p5"/>
          <p:cNvSpPr/>
          <p:nvPr/>
        </p:nvSpPr>
        <p:spPr>
          <a:xfrm>
            <a:off x="6035040" y="3090672"/>
            <a:ext cx="365760" cy="36576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5"/>
          <p:cNvPicPr preferRelativeResize="0"/>
          <p:nvPr/>
        </p:nvPicPr>
        <p:blipFill rotWithShape="1">
          <a:blip r:embed="rId8">
            <a:alphaModFix/>
          </a:blip>
          <a:srcRect b="0" l="0" r="0" t="0"/>
          <a:stretch/>
        </p:blipFill>
        <p:spPr>
          <a:xfrm>
            <a:off x="6133795" y="3189427"/>
            <a:ext cx="168250" cy="168250"/>
          </a:xfrm>
          <a:prstGeom prst="rect">
            <a:avLst/>
          </a:prstGeom>
          <a:noFill/>
          <a:ln>
            <a:noFill/>
          </a:ln>
        </p:spPr>
      </p:pic>
      <p:sp>
        <p:nvSpPr>
          <p:cNvPr id="167" name="Google Shape;167;p5"/>
          <p:cNvSpPr/>
          <p:nvPr/>
        </p:nvSpPr>
        <p:spPr>
          <a:xfrm>
            <a:off x="6492240" y="3090672"/>
            <a:ext cx="2194560"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Real-Time API Deployment</a:t>
            </a:r>
            <a:endParaRPr sz="1100">
              <a:solidFill>
                <a:schemeClr val="dk1"/>
              </a:solidFill>
              <a:latin typeface="Calibri"/>
              <a:ea typeface="Calibri"/>
              <a:cs typeface="Calibri"/>
              <a:sym typeface="Calibri"/>
            </a:endParaRPr>
          </a:p>
        </p:txBody>
      </p:sp>
      <p:sp>
        <p:nvSpPr>
          <p:cNvPr id="168" name="Google Shape;168;p5"/>
          <p:cNvSpPr/>
          <p:nvPr/>
        </p:nvSpPr>
        <p:spPr>
          <a:xfrm>
            <a:off x="6035040" y="3721608"/>
            <a:ext cx="365760" cy="365760"/>
          </a:xfrm>
          <a:prstGeom prst="ellipse">
            <a:avLst/>
          </a:prstGeom>
          <a:solidFill>
            <a:srgbClr val="0E7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 name="Google Shape;169;p5"/>
          <p:cNvPicPr preferRelativeResize="0"/>
          <p:nvPr/>
        </p:nvPicPr>
        <p:blipFill rotWithShape="1">
          <a:blip r:embed="rId9">
            <a:alphaModFix/>
          </a:blip>
          <a:srcRect b="0" l="0" r="0" t="0"/>
          <a:stretch/>
        </p:blipFill>
        <p:spPr>
          <a:xfrm>
            <a:off x="6133795" y="3820363"/>
            <a:ext cx="168250" cy="168250"/>
          </a:xfrm>
          <a:prstGeom prst="rect">
            <a:avLst/>
          </a:prstGeom>
          <a:noFill/>
          <a:ln>
            <a:noFill/>
          </a:ln>
        </p:spPr>
      </p:pic>
      <p:sp>
        <p:nvSpPr>
          <p:cNvPr id="170" name="Google Shape;170;p5"/>
          <p:cNvSpPr/>
          <p:nvPr/>
        </p:nvSpPr>
        <p:spPr>
          <a:xfrm>
            <a:off x="6492240" y="3721608"/>
            <a:ext cx="2194560"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Multi-Language Support</a:t>
            </a:r>
            <a:endParaRPr sz="1100">
              <a:solidFill>
                <a:schemeClr val="dk1"/>
              </a:solidFill>
              <a:latin typeface="Calibri"/>
              <a:ea typeface="Calibri"/>
              <a:cs typeface="Calibri"/>
              <a:sym typeface="Calibri"/>
            </a:endParaRPr>
          </a:p>
        </p:txBody>
      </p:sp>
      <p:cxnSp>
        <p:nvCxnSpPr>
          <p:cNvPr id="171" name="Google Shape;171;p5"/>
          <p:cNvCxnSpPr/>
          <p:nvPr/>
        </p:nvCxnSpPr>
        <p:spPr>
          <a:xfrm>
            <a:off x="457200" y="4434840"/>
            <a:ext cx="8229600" cy="0"/>
          </a:xfrm>
          <a:prstGeom prst="straightConnector1">
            <a:avLst/>
          </a:prstGeom>
          <a:noFill/>
          <a:ln cap="flat" cmpd="sng" w="12700">
            <a:solidFill>
              <a:srgbClr val="33455C"/>
            </a:solidFill>
            <a:prstDash val="solid"/>
            <a:round/>
            <a:headEnd len="sm" w="sm" type="none"/>
            <a:tailEnd len="sm" w="sm" type="none"/>
          </a:ln>
        </p:spPr>
      </p:cxnSp>
      <p:sp>
        <p:nvSpPr>
          <p:cNvPr id="172" name="Google Shape;172;p5"/>
          <p:cNvSpPr/>
          <p:nvPr/>
        </p:nvSpPr>
        <p:spPr>
          <a:xfrm>
            <a:off x="457200" y="4553712"/>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2200"/>
              <a:buFont typeface="Arial"/>
              <a:buNone/>
            </a:pPr>
            <a:r>
              <a:rPr b="1" lang="en-US" sz="2200">
                <a:solidFill>
                  <a:srgbClr val="F2A93B"/>
                </a:solidFill>
                <a:latin typeface="Arial"/>
                <a:ea typeface="Arial"/>
                <a:cs typeface="Arial"/>
                <a:sym typeface="Arial"/>
              </a:rPr>
              <a:t>Thank You</a:t>
            </a:r>
            <a:endParaRPr sz="2200">
              <a:solidFill>
                <a:schemeClr val="dk1"/>
              </a:solidFill>
              <a:latin typeface="Calibri"/>
              <a:ea typeface="Calibri"/>
              <a:cs typeface="Calibri"/>
              <a:sym typeface="Calibri"/>
            </a:endParaRPr>
          </a:p>
        </p:txBody>
      </p:sp>
      <p:pic>
        <p:nvPicPr>
          <p:cNvPr id="173" name="Google Shape;173;p5" title="GitHub_Invertocat_White.png"/>
          <p:cNvPicPr preferRelativeResize="0"/>
          <p:nvPr/>
        </p:nvPicPr>
        <p:blipFill>
          <a:blip r:embed="rId10">
            <a:alphaModFix/>
          </a:blip>
          <a:stretch>
            <a:fillRect/>
          </a:stretch>
        </p:blipFill>
        <p:spPr>
          <a:xfrm>
            <a:off x="6071136" y="4653956"/>
            <a:ext cx="310900" cy="304555"/>
          </a:xfrm>
          <a:prstGeom prst="rect">
            <a:avLst/>
          </a:prstGeom>
          <a:noFill/>
          <a:ln>
            <a:noFill/>
          </a:ln>
        </p:spPr>
      </p:pic>
      <p:sp>
        <p:nvSpPr>
          <p:cNvPr id="174" name="Google Shape;174;p5"/>
          <p:cNvSpPr txBox="1"/>
          <p:nvPr/>
        </p:nvSpPr>
        <p:spPr>
          <a:xfrm>
            <a:off x="6358324" y="4607266"/>
            <a:ext cx="227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u="sng">
                <a:solidFill>
                  <a:schemeClr val="hlink"/>
                </a:solidFill>
                <a:latin typeface="Calibri"/>
                <a:ea typeface="Calibri"/>
                <a:cs typeface="Calibri"/>
                <a:sym typeface="Calibri"/>
                <a:hlinkClick r:id="rId11"/>
              </a:rPr>
              <a:t>Project Repository</a:t>
            </a:r>
            <a:endParaRPr b="1">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2026-06-15T20:23:24Z</dcterms:created>
  <dc:creator>team-2826</dc:creator>
</cp:coreProperties>
</file>